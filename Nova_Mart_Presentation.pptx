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3" r:id="rId3"/>
    <p:sldId id="259" r:id="rId4"/>
    <p:sldId id="266" r:id="rId5"/>
    <p:sldId id="267" r:id="rId6"/>
    <p:sldId id="268" r:id="rId7"/>
    <p:sldId id="269" r:id="rId8"/>
    <p:sldId id="270" r:id="rId9"/>
    <p:sldId id="271" r:id="rId10"/>
    <p:sldId id="274" r:id="rId11"/>
  </p:sldIdLst>
  <p:sldSz cx="18288000" cy="10287000"/>
  <p:notesSz cx="6858000" cy="9144000"/>
  <p:embeddedFontLst>
    <p:embeddedFont>
      <p:font typeface="Poppins" panose="00000500000000000000" pitchFamily="2" charset="0"/>
      <p:regular r:id="rId12"/>
    </p:embeddedFont>
    <p:embeddedFont>
      <p:font typeface="Poppins Bold" panose="00000800000000000000" charset="0"/>
      <p:regular r:id="rId13"/>
    </p:embeddedFont>
    <p:embeddedFont>
      <p:font typeface="Telegraf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50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296111" y="1485900"/>
            <a:ext cx="17695777" cy="8314233"/>
            <a:chOff x="0" y="0"/>
            <a:chExt cx="4660616" cy="2525215"/>
          </a:xfrm>
        </p:grpSpPr>
        <p:sp>
          <p:nvSpPr>
            <p:cNvPr id="3" name="Freeform 3"/>
            <p:cNvSpPr/>
            <p:nvPr/>
          </p:nvSpPr>
          <p:spPr>
            <a:xfrm>
              <a:off x="0" y="0"/>
              <a:ext cx="4660616" cy="2525215"/>
            </a:xfrm>
            <a:custGeom>
              <a:avLst/>
              <a:gdLst/>
              <a:ahLst/>
              <a:cxnLst/>
              <a:rect l="l" t="t" r="r" b="b"/>
              <a:pathLst>
                <a:path w="4660616" h="2525215">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FFFFFF">
                <a:alpha val="21961"/>
              </a:srgbClr>
            </a:solidFill>
          </p:spPr>
          <p:txBody>
            <a:bodyPr/>
            <a:lstStyle/>
            <a:p>
              <a:endParaRPr lang="en-IN"/>
            </a:p>
          </p:txBody>
        </p:sp>
        <p:sp>
          <p:nvSpPr>
            <p:cNvPr id="4" name="TextBox 4"/>
            <p:cNvSpPr txBox="1"/>
            <p:nvPr/>
          </p:nvSpPr>
          <p:spPr>
            <a:xfrm>
              <a:off x="0" y="-38100"/>
              <a:ext cx="4660616" cy="256331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803986" y="803986"/>
            <a:ext cx="449429" cy="449429"/>
          </a:xfrm>
          <a:custGeom>
            <a:avLst/>
            <a:gdLst/>
            <a:ahLst/>
            <a:cxnLst/>
            <a:rect l="l" t="t" r="r" b="b"/>
            <a:pathLst>
              <a:path w="449429" h="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054413" y="3687473"/>
            <a:ext cx="11423588" cy="2954655"/>
          </a:xfrm>
          <a:prstGeom prst="rect">
            <a:avLst/>
          </a:prstGeom>
        </p:spPr>
        <p:txBody>
          <a:bodyPr wrap="square" lIns="0" tIns="0" rIns="0" bIns="0" rtlCol="0" anchor="t">
            <a:spAutoFit/>
          </a:bodyPr>
          <a:lstStyle/>
          <a:p>
            <a:pPr algn="ctr">
              <a:buNone/>
            </a:pPr>
            <a:r>
              <a:rPr lang="en-IN" sz="9600" b="0" i="0" dirty="0">
                <a:solidFill>
                  <a:srgbClr val="FFFFFF"/>
                </a:solidFill>
                <a:effectLst/>
                <a:latin typeface="Manrope"/>
              </a:rPr>
              <a:t>Campaign Performance Analysis</a:t>
            </a:r>
          </a:p>
        </p:txBody>
      </p:sp>
      <p:sp>
        <p:nvSpPr>
          <p:cNvPr id="7" name="TextBox 7"/>
          <p:cNvSpPr txBox="1"/>
          <p:nvPr/>
        </p:nvSpPr>
        <p:spPr>
          <a:xfrm>
            <a:off x="1341572" y="775609"/>
            <a:ext cx="2685498" cy="409023"/>
          </a:xfrm>
          <a:prstGeom prst="rect">
            <a:avLst/>
          </a:prstGeom>
        </p:spPr>
        <p:txBody>
          <a:bodyPr lIns="0" tIns="0" rIns="0" bIns="0" rtlCol="0" anchor="t">
            <a:spAutoFit/>
          </a:bodyPr>
          <a:lstStyle/>
          <a:p>
            <a:pPr algn="l">
              <a:lnSpc>
                <a:spcPts val="3391"/>
              </a:lnSpc>
              <a:spcBef>
                <a:spcPct val="0"/>
              </a:spcBef>
            </a:pPr>
            <a:r>
              <a:rPr lang="en-US" sz="2422" b="1" spc="-109" dirty="0">
                <a:solidFill>
                  <a:srgbClr val="FFFFFF"/>
                </a:solidFill>
                <a:latin typeface="Telegraf Bold"/>
                <a:ea typeface="Telegraf Bold"/>
                <a:cs typeface="Telegraf Bold"/>
                <a:sym typeface="Telegraf Bold"/>
              </a:rPr>
              <a:t>Nova Mart</a:t>
            </a:r>
          </a:p>
        </p:txBody>
      </p:sp>
      <p:sp>
        <p:nvSpPr>
          <p:cNvPr id="8" name="TextBox 8"/>
          <p:cNvSpPr txBox="1"/>
          <p:nvPr/>
        </p:nvSpPr>
        <p:spPr>
          <a:xfrm>
            <a:off x="1005489" y="8994425"/>
            <a:ext cx="4747340" cy="425373"/>
          </a:xfrm>
          <a:prstGeom prst="rect">
            <a:avLst/>
          </a:prstGeom>
        </p:spPr>
        <p:txBody>
          <a:bodyPr lIns="0" tIns="0" rIns="0" bIns="0" rtlCol="0" anchor="t">
            <a:spAutoFit/>
          </a:bodyPr>
          <a:lstStyle/>
          <a:p>
            <a:pPr algn="l">
              <a:lnSpc>
                <a:spcPts val="3461"/>
              </a:lnSpc>
            </a:pPr>
            <a:r>
              <a:rPr lang="en-US" sz="2472" dirty="0">
                <a:solidFill>
                  <a:srgbClr val="FFFFFF"/>
                </a:solidFill>
                <a:latin typeface="Poppins"/>
                <a:ea typeface="Poppins"/>
                <a:cs typeface="Poppins"/>
                <a:sym typeface="Poppins"/>
              </a:rPr>
              <a:t>CodeBasics.io</a:t>
            </a:r>
          </a:p>
        </p:txBody>
      </p:sp>
      <p:sp>
        <p:nvSpPr>
          <p:cNvPr id="9" name="TextBox 9"/>
          <p:cNvSpPr txBox="1"/>
          <p:nvPr/>
        </p:nvSpPr>
        <p:spPr>
          <a:xfrm>
            <a:off x="12571460" y="8724901"/>
            <a:ext cx="4747340" cy="874214"/>
          </a:xfrm>
          <a:prstGeom prst="rect">
            <a:avLst/>
          </a:prstGeom>
        </p:spPr>
        <p:txBody>
          <a:bodyPr lIns="0" tIns="0" rIns="0" bIns="0" rtlCol="0" anchor="t">
            <a:spAutoFit/>
          </a:bodyPr>
          <a:lstStyle/>
          <a:p>
            <a:pPr algn="r">
              <a:lnSpc>
                <a:spcPts val="3461"/>
              </a:lnSpc>
            </a:pPr>
            <a:r>
              <a:rPr lang="en-US" sz="2472" dirty="0">
                <a:solidFill>
                  <a:srgbClr val="FFFFFF"/>
                </a:solidFill>
                <a:latin typeface="Poppins"/>
                <a:ea typeface="Poppins"/>
                <a:cs typeface="Poppins"/>
                <a:sym typeface="Poppins"/>
              </a:rPr>
              <a:t>https://www.linkedin.com/in/hruthik-gajjala/</a:t>
            </a:r>
          </a:p>
        </p:txBody>
      </p:sp>
      <p:sp>
        <p:nvSpPr>
          <p:cNvPr id="10" name="TextBox 10"/>
          <p:cNvSpPr txBox="1"/>
          <p:nvPr/>
        </p:nvSpPr>
        <p:spPr>
          <a:xfrm>
            <a:off x="8496029" y="9002119"/>
            <a:ext cx="1274721" cy="451551"/>
          </a:xfrm>
          <a:prstGeom prst="rect">
            <a:avLst/>
          </a:prstGeom>
        </p:spPr>
        <p:txBody>
          <a:bodyPr lIns="0" tIns="0" rIns="0" bIns="0" rtlCol="0" anchor="t">
            <a:spAutoFit/>
          </a:bodyPr>
          <a:lstStyle/>
          <a:p>
            <a:pPr algn="ctr">
              <a:lnSpc>
                <a:spcPts val="3461"/>
              </a:lnSpc>
            </a:pPr>
            <a:r>
              <a:rPr lang="en-US" sz="2472">
                <a:solidFill>
                  <a:srgbClr val="FFFFFF"/>
                </a:solidFill>
                <a:latin typeface="Poppins"/>
                <a:ea typeface="Poppins"/>
                <a:cs typeface="Poppins"/>
                <a:sym typeface="Poppins"/>
              </a:rPr>
              <a:t>-</a:t>
            </a:r>
          </a:p>
        </p:txBody>
      </p:sp>
      <p:sp>
        <p:nvSpPr>
          <p:cNvPr id="11" name="TextBox 11"/>
          <p:cNvSpPr txBox="1"/>
          <p:nvPr/>
        </p:nvSpPr>
        <p:spPr>
          <a:xfrm>
            <a:off x="9144000" y="841660"/>
            <a:ext cx="1662550" cy="403311"/>
          </a:xfrm>
          <a:prstGeom prst="rect">
            <a:avLst/>
          </a:prstGeom>
        </p:spPr>
        <p:txBody>
          <a:bodyPr lIns="0" tIns="0" rIns="0" bIns="0" rtlCol="0" anchor="t">
            <a:spAutoFit/>
          </a:bodyPr>
          <a:lstStyle/>
          <a:p>
            <a:pPr marL="0" lvl="0" indent="0" algn="r">
              <a:lnSpc>
                <a:spcPts val="3151"/>
              </a:lnSpc>
              <a:spcBef>
                <a:spcPct val="0"/>
              </a:spcBef>
            </a:pPr>
            <a:r>
              <a:rPr lang="en-US" sz="2251" b="1" dirty="0">
                <a:solidFill>
                  <a:srgbClr val="FFFFFF"/>
                </a:solidFill>
                <a:latin typeface="Poppins Bold"/>
                <a:ea typeface="Poppins Bold"/>
                <a:cs typeface="Poppins Bold"/>
                <a:sym typeface="Poppins Bold"/>
              </a:rPr>
              <a:t>Home</a:t>
            </a:r>
          </a:p>
        </p:txBody>
      </p:sp>
      <p:sp>
        <p:nvSpPr>
          <p:cNvPr id="12" name="TextBox 12"/>
          <p:cNvSpPr txBox="1"/>
          <p:nvPr/>
        </p:nvSpPr>
        <p:spPr>
          <a:xfrm>
            <a:off x="11408122" y="843874"/>
            <a:ext cx="1907082" cy="409541"/>
          </a:xfrm>
          <a:prstGeom prst="rect">
            <a:avLst/>
          </a:prstGeom>
        </p:spPr>
        <p:txBody>
          <a:bodyPr lIns="0" tIns="0" rIns="0" bIns="0" rtlCol="0" anchor="t">
            <a:spAutoFit/>
          </a:bodyPr>
          <a:lstStyle/>
          <a:p>
            <a:pPr marL="0" lvl="0" indent="0" algn="ctr">
              <a:lnSpc>
                <a:spcPts val="3151"/>
              </a:lnSpc>
              <a:spcBef>
                <a:spcPct val="0"/>
              </a:spcBef>
            </a:pPr>
            <a:r>
              <a:rPr lang="en-US" sz="2251" dirty="0">
                <a:solidFill>
                  <a:srgbClr val="FFFFFF"/>
                </a:solidFill>
                <a:latin typeface="Poppins"/>
                <a:ea typeface="Poppins"/>
                <a:cs typeface="Poppins"/>
                <a:sym typeface="Poppins"/>
              </a:rPr>
              <a:t>About</a:t>
            </a:r>
          </a:p>
        </p:txBody>
      </p:sp>
      <p:sp>
        <p:nvSpPr>
          <p:cNvPr id="13" name="TextBox 13"/>
          <p:cNvSpPr txBox="1"/>
          <p:nvPr/>
        </p:nvSpPr>
        <p:spPr>
          <a:xfrm>
            <a:off x="13726729" y="819695"/>
            <a:ext cx="1916881" cy="409541"/>
          </a:xfrm>
          <a:prstGeom prst="rect">
            <a:avLst/>
          </a:prstGeom>
        </p:spPr>
        <p:txBody>
          <a:bodyPr lIns="0" tIns="0" rIns="0" bIns="0" rtlCol="0" anchor="t">
            <a:spAutoFit/>
          </a:bodyPr>
          <a:lstStyle/>
          <a:p>
            <a:pPr marL="0" lvl="0" indent="0" algn="ctr">
              <a:lnSpc>
                <a:spcPts val="3151"/>
              </a:lnSpc>
              <a:spcBef>
                <a:spcPct val="0"/>
              </a:spcBef>
            </a:pPr>
            <a:r>
              <a:rPr lang="en-US" sz="2251">
                <a:solidFill>
                  <a:srgbClr val="FFFFFF"/>
                </a:solidFill>
                <a:latin typeface="Poppins"/>
                <a:ea typeface="Poppins"/>
                <a:cs typeface="Poppins"/>
                <a:sym typeface="Poppins"/>
              </a:rPr>
              <a:t>Content</a:t>
            </a:r>
          </a:p>
        </p:txBody>
      </p:sp>
      <p:sp>
        <p:nvSpPr>
          <p:cNvPr id="14" name="TextBox 14"/>
          <p:cNvSpPr txBox="1"/>
          <p:nvPr/>
        </p:nvSpPr>
        <p:spPr>
          <a:xfrm>
            <a:off x="15034325" y="841660"/>
            <a:ext cx="2224975"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Others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D578CE09-642B-0AB7-BD5C-60A785B957A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2C0760D-895F-2565-6725-C71A7300C830}"/>
              </a:ext>
            </a:extLst>
          </p:cNvPr>
          <p:cNvSpPr/>
          <p:nvPr/>
        </p:nvSpPr>
        <p:spPr>
          <a:xfrm>
            <a:off x="803986" y="803986"/>
            <a:ext cx="449429" cy="449429"/>
          </a:xfrm>
          <a:custGeom>
            <a:avLst/>
            <a:gdLst/>
            <a:ahLst/>
            <a:cxnLst/>
            <a:rect l="l" t="t" r="r" b="b"/>
            <a:pathLst>
              <a:path w="449429" h="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a:extLst>
              <a:ext uri="{FF2B5EF4-FFF2-40B4-BE49-F238E27FC236}">
                <a16:creationId xmlns:a16="http://schemas.microsoft.com/office/drawing/2014/main" id="{0E9C2165-2925-EC2A-23F6-309995D12D5D}"/>
              </a:ext>
            </a:extLst>
          </p:cNvPr>
          <p:cNvSpPr txBox="1"/>
          <p:nvPr/>
        </p:nvSpPr>
        <p:spPr>
          <a:xfrm>
            <a:off x="1363845" y="768097"/>
            <a:ext cx="2685498" cy="409023"/>
          </a:xfrm>
          <a:prstGeom prst="rect">
            <a:avLst/>
          </a:prstGeom>
        </p:spPr>
        <p:txBody>
          <a:bodyPr lIns="0" tIns="0" rIns="0" bIns="0" rtlCol="0" anchor="t">
            <a:spAutoFit/>
          </a:bodyPr>
          <a:lstStyle/>
          <a:p>
            <a:pPr>
              <a:lnSpc>
                <a:spcPts val="3391"/>
              </a:lnSpc>
              <a:spcBef>
                <a:spcPct val="0"/>
              </a:spcBef>
            </a:pPr>
            <a:r>
              <a:rPr lang="en-US" sz="2422" b="1" spc="-109" dirty="0">
                <a:solidFill>
                  <a:srgbClr val="FFFFFF"/>
                </a:solidFill>
                <a:latin typeface="Telegraf Bold"/>
                <a:ea typeface="Telegraf Bold"/>
                <a:cs typeface="Telegraf Bold"/>
                <a:sym typeface="Telegraf Bold"/>
              </a:rPr>
              <a:t>Nova Mart</a:t>
            </a:r>
          </a:p>
        </p:txBody>
      </p:sp>
      <p:sp>
        <p:nvSpPr>
          <p:cNvPr id="4" name="TextBox 4">
            <a:extLst>
              <a:ext uri="{FF2B5EF4-FFF2-40B4-BE49-F238E27FC236}">
                <a16:creationId xmlns:a16="http://schemas.microsoft.com/office/drawing/2014/main" id="{8971CF49-0B34-07FB-E932-F886FDBCA538}"/>
              </a:ext>
            </a:extLst>
          </p:cNvPr>
          <p:cNvSpPr txBox="1"/>
          <p:nvPr/>
        </p:nvSpPr>
        <p:spPr>
          <a:xfrm>
            <a:off x="9144000" y="841660"/>
            <a:ext cx="1662550"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Home</a:t>
            </a:r>
          </a:p>
        </p:txBody>
      </p:sp>
      <p:sp>
        <p:nvSpPr>
          <p:cNvPr id="5" name="TextBox 5">
            <a:extLst>
              <a:ext uri="{FF2B5EF4-FFF2-40B4-BE49-F238E27FC236}">
                <a16:creationId xmlns:a16="http://schemas.microsoft.com/office/drawing/2014/main" id="{03A9F14F-8520-53F4-C907-109AA9B0AD67}"/>
              </a:ext>
            </a:extLst>
          </p:cNvPr>
          <p:cNvSpPr txBox="1"/>
          <p:nvPr/>
        </p:nvSpPr>
        <p:spPr>
          <a:xfrm>
            <a:off x="11408122" y="843874"/>
            <a:ext cx="1907082" cy="388633"/>
          </a:xfrm>
          <a:prstGeom prst="rect">
            <a:avLst/>
          </a:prstGeom>
        </p:spPr>
        <p:txBody>
          <a:bodyPr lIns="0" tIns="0" rIns="0" bIns="0" rtlCol="0" anchor="t">
            <a:spAutoFit/>
          </a:bodyPr>
          <a:lstStyle/>
          <a:p>
            <a:pPr lvl="0" algn="ctr">
              <a:lnSpc>
                <a:spcPts val="3151"/>
              </a:lnSpc>
              <a:spcBef>
                <a:spcPct val="0"/>
              </a:spcBef>
            </a:pPr>
            <a:r>
              <a:rPr lang="en-US" sz="2251" b="1" dirty="0">
                <a:solidFill>
                  <a:srgbClr val="FFFFFF"/>
                </a:solidFill>
                <a:latin typeface="Poppins Bold"/>
                <a:ea typeface="Poppins Bold"/>
                <a:cs typeface="Poppins Bold"/>
                <a:sym typeface="Poppins Bold"/>
              </a:rPr>
              <a:t>About</a:t>
            </a:r>
          </a:p>
        </p:txBody>
      </p:sp>
      <p:sp>
        <p:nvSpPr>
          <p:cNvPr id="6" name="TextBox 6">
            <a:extLst>
              <a:ext uri="{FF2B5EF4-FFF2-40B4-BE49-F238E27FC236}">
                <a16:creationId xmlns:a16="http://schemas.microsoft.com/office/drawing/2014/main" id="{978B7DC7-4F2C-98A6-1593-C0791E6B7570}"/>
              </a:ext>
            </a:extLst>
          </p:cNvPr>
          <p:cNvSpPr txBox="1"/>
          <p:nvPr/>
        </p:nvSpPr>
        <p:spPr>
          <a:xfrm>
            <a:off x="13726729" y="819695"/>
            <a:ext cx="1916881" cy="388633"/>
          </a:xfrm>
          <a:prstGeom prst="rect">
            <a:avLst/>
          </a:prstGeom>
        </p:spPr>
        <p:txBody>
          <a:bodyPr lIns="0" tIns="0" rIns="0" bIns="0" rtlCol="0" anchor="t">
            <a:spAutoFit/>
          </a:bodyPr>
          <a:lstStyle/>
          <a:p>
            <a:pPr lvl="0" algn="ctr">
              <a:lnSpc>
                <a:spcPts val="3151"/>
              </a:lnSpc>
              <a:spcBef>
                <a:spcPct val="0"/>
              </a:spcBef>
            </a:pPr>
            <a:r>
              <a:rPr lang="en-US" sz="2251" dirty="0">
                <a:solidFill>
                  <a:srgbClr val="FFFFFF"/>
                </a:solidFill>
                <a:latin typeface="Poppins"/>
                <a:ea typeface="Poppins"/>
                <a:cs typeface="Poppins"/>
                <a:sym typeface="Poppins"/>
              </a:rPr>
              <a:t>Content</a:t>
            </a:r>
          </a:p>
        </p:txBody>
      </p:sp>
      <p:sp>
        <p:nvSpPr>
          <p:cNvPr id="7" name="TextBox 7">
            <a:extLst>
              <a:ext uri="{FF2B5EF4-FFF2-40B4-BE49-F238E27FC236}">
                <a16:creationId xmlns:a16="http://schemas.microsoft.com/office/drawing/2014/main" id="{1722D578-F3C9-1FF2-C9AA-8D3AF5E9E0E6}"/>
              </a:ext>
            </a:extLst>
          </p:cNvPr>
          <p:cNvSpPr txBox="1"/>
          <p:nvPr/>
        </p:nvSpPr>
        <p:spPr>
          <a:xfrm>
            <a:off x="15034325" y="841660"/>
            <a:ext cx="2224975"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Others</a:t>
            </a:r>
          </a:p>
        </p:txBody>
      </p:sp>
      <p:grpSp>
        <p:nvGrpSpPr>
          <p:cNvPr id="8" name="Group 8">
            <a:extLst>
              <a:ext uri="{FF2B5EF4-FFF2-40B4-BE49-F238E27FC236}">
                <a16:creationId xmlns:a16="http://schemas.microsoft.com/office/drawing/2014/main" id="{442DEC3B-8658-C449-1B98-67F0689A6AC6}"/>
              </a:ext>
            </a:extLst>
          </p:cNvPr>
          <p:cNvGrpSpPr/>
          <p:nvPr/>
        </p:nvGrpSpPr>
        <p:grpSpPr>
          <a:xfrm>
            <a:off x="803986" y="1851793"/>
            <a:ext cx="8644814" cy="6949308"/>
            <a:chOff x="0" y="0"/>
            <a:chExt cx="1659648" cy="1556868"/>
          </a:xfrm>
        </p:grpSpPr>
        <p:sp>
          <p:nvSpPr>
            <p:cNvPr id="9" name="Freeform 9">
              <a:extLst>
                <a:ext uri="{FF2B5EF4-FFF2-40B4-BE49-F238E27FC236}">
                  <a16:creationId xmlns:a16="http://schemas.microsoft.com/office/drawing/2014/main" id="{FF289865-27E5-C642-1F6C-7708DA64B4E5}"/>
                </a:ext>
              </a:extLst>
            </p:cNvPr>
            <p:cNvSpPr/>
            <p:nvPr/>
          </p:nvSpPr>
          <p:spPr>
            <a:xfrm>
              <a:off x="0" y="0"/>
              <a:ext cx="1659648" cy="1556868"/>
            </a:xfrm>
            <a:custGeom>
              <a:avLst/>
              <a:gdLst/>
              <a:ahLst/>
              <a:cxnLst/>
              <a:rect l="l" t="t" r="r" b="b"/>
              <a:pathLst>
                <a:path w="1659648" h="1556868">
                  <a:moveTo>
                    <a:pt x="68801" y="0"/>
                  </a:moveTo>
                  <a:lnTo>
                    <a:pt x="1590847" y="0"/>
                  </a:lnTo>
                  <a:cubicBezTo>
                    <a:pt x="1609094" y="0"/>
                    <a:pt x="1626594" y="7249"/>
                    <a:pt x="1639497" y="20151"/>
                  </a:cubicBezTo>
                  <a:cubicBezTo>
                    <a:pt x="1652399" y="33054"/>
                    <a:pt x="1659648" y="50554"/>
                    <a:pt x="1659648" y="68801"/>
                  </a:cubicBezTo>
                  <a:lnTo>
                    <a:pt x="1659648" y="1488067"/>
                  </a:lnTo>
                  <a:cubicBezTo>
                    <a:pt x="1659648" y="1506314"/>
                    <a:pt x="1652399" y="1523814"/>
                    <a:pt x="1639497" y="1536717"/>
                  </a:cubicBezTo>
                  <a:cubicBezTo>
                    <a:pt x="1626594" y="1549620"/>
                    <a:pt x="1609094" y="1556868"/>
                    <a:pt x="1590847" y="1556868"/>
                  </a:cubicBezTo>
                  <a:lnTo>
                    <a:pt x="68801" y="1556868"/>
                  </a:lnTo>
                  <a:cubicBezTo>
                    <a:pt x="50554" y="1556868"/>
                    <a:pt x="33054" y="1549620"/>
                    <a:pt x="20151" y="1536717"/>
                  </a:cubicBezTo>
                  <a:cubicBezTo>
                    <a:pt x="7249" y="1523814"/>
                    <a:pt x="0" y="1506314"/>
                    <a:pt x="0" y="1488067"/>
                  </a:cubicBezTo>
                  <a:lnTo>
                    <a:pt x="0" y="68801"/>
                  </a:lnTo>
                  <a:cubicBezTo>
                    <a:pt x="0" y="50554"/>
                    <a:pt x="7249" y="33054"/>
                    <a:pt x="20151" y="20151"/>
                  </a:cubicBezTo>
                  <a:cubicBezTo>
                    <a:pt x="33054" y="7249"/>
                    <a:pt x="50554" y="0"/>
                    <a:pt x="68801" y="0"/>
                  </a:cubicBezTo>
                  <a:close/>
                </a:path>
              </a:pathLst>
            </a:custGeom>
            <a:gradFill rotWithShape="1">
              <a:gsLst>
                <a:gs pos="0">
                  <a:srgbClr val="000000">
                    <a:alpha val="78000"/>
                  </a:srgbClr>
                </a:gs>
                <a:gs pos="100000">
                  <a:srgbClr val="DDDDDD">
                    <a:alpha val="14820"/>
                  </a:srgbClr>
                </a:gs>
              </a:gsLst>
              <a:lin ang="2700000"/>
            </a:gradFill>
          </p:spPr>
        </p:sp>
        <p:sp>
          <p:nvSpPr>
            <p:cNvPr id="10" name="TextBox 10">
              <a:extLst>
                <a:ext uri="{FF2B5EF4-FFF2-40B4-BE49-F238E27FC236}">
                  <a16:creationId xmlns:a16="http://schemas.microsoft.com/office/drawing/2014/main" id="{AA6445F4-483B-B425-FEA0-FE9B1D09355A}"/>
                </a:ext>
              </a:extLst>
            </p:cNvPr>
            <p:cNvSpPr txBox="1"/>
            <p:nvPr/>
          </p:nvSpPr>
          <p:spPr>
            <a:xfrm>
              <a:off x="0" y="-66675"/>
              <a:ext cx="1659648" cy="1623543"/>
            </a:xfrm>
            <a:prstGeom prst="rect">
              <a:avLst/>
            </a:prstGeom>
          </p:spPr>
          <p:txBody>
            <a:bodyPr lIns="50800" tIns="50800" rIns="50800" bIns="50800" rtlCol="0" anchor="ctr"/>
            <a:lstStyle/>
            <a:p>
              <a:pPr algn="ctr">
                <a:lnSpc>
                  <a:spcPts val="3151"/>
                </a:lnSpc>
              </a:pPr>
              <a:endParaRPr/>
            </a:p>
          </p:txBody>
        </p:sp>
      </p:grpSp>
      <p:grpSp>
        <p:nvGrpSpPr>
          <p:cNvPr id="11" name="Group 11">
            <a:extLst>
              <a:ext uri="{FF2B5EF4-FFF2-40B4-BE49-F238E27FC236}">
                <a16:creationId xmlns:a16="http://schemas.microsoft.com/office/drawing/2014/main" id="{94855BB8-D785-FCCE-9EB9-AECA7F741E98}"/>
              </a:ext>
            </a:extLst>
          </p:cNvPr>
          <p:cNvGrpSpPr/>
          <p:nvPr/>
        </p:nvGrpSpPr>
        <p:grpSpPr>
          <a:xfrm>
            <a:off x="1009958" y="2010704"/>
            <a:ext cx="6090254" cy="821553"/>
            <a:chOff x="0" y="-66676"/>
            <a:chExt cx="2581514" cy="1607361"/>
          </a:xfrm>
        </p:grpSpPr>
        <p:sp>
          <p:nvSpPr>
            <p:cNvPr id="12" name="Freeform 12">
              <a:extLst>
                <a:ext uri="{FF2B5EF4-FFF2-40B4-BE49-F238E27FC236}">
                  <a16:creationId xmlns:a16="http://schemas.microsoft.com/office/drawing/2014/main" id="{BA6651DE-3747-5F8A-8BA3-88FECEB7F2FE}"/>
                </a:ext>
              </a:extLst>
            </p:cNvPr>
            <p:cNvSpPr/>
            <p:nvPr/>
          </p:nvSpPr>
          <p:spPr>
            <a:xfrm>
              <a:off x="4868" y="-66676"/>
              <a:ext cx="2576646" cy="1540685"/>
            </a:xfrm>
            <a:custGeom>
              <a:avLst/>
              <a:gdLst/>
              <a:ahLst/>
              <a:cxnLst/>
              <a:rect l="l" t="t" r="r" b="b"/>
              <a:pathLst>
                <a:path w="2576646" h="1540685">
                  <a:moveTo>
                    <a:pt x="44315" y="0"/>
                  </a:moveTo>
                  <a:lnTo>
                    <a:pt x="2532331" y="0"/>
                  </a:lnTo>
                  <a:cubicBezTo>
                    <a:pt x="2556806" y="0"/>
                    <a:pt x="2576646" y="19841"/>
                    <a:pt x="2576646" y="44315"/>
                  </a:cubicBezTo>
                  <a:lnTo>
                    <a:pt x="2576646" y="1496370"/>
                  </a:lnTo>
                  <a:cubicBezTo>
                    <a:pt x="2576646" y="1508123"/>
                    <a:pt x="2571977" y="1519395"/>
                    <a:pt x="2563667" y="1527705"/>
                  </a:cubicBezTo>
                  <a:cubicBezTo>
                    <a:pt x="2555356" y="1536016"/>
                    <a:pt x="2544084" y="1540685"/>
                    <a:pt x="2532331" y="1540685"/>
                  </a:cubicBezTo>
                  <a:lnTo>
                    <a:pt x="44315" y="1540685"/>
                  </a:lnTo>
                  <a:cubicBezTo>
                    <a:pt x="32562" y="1540685"/>
                    <a:pt x="21290" y="1536016"/>
                    <a:pt x="12980" y="1527705"/>
                  </a:cubicBezTo>
                  <a:cubicBezTo>
                    <a:pt x="4669" y="1519395"/>
                    <a:pt x="0" y="1508123"/>
                    <a:pt x="0" y="1496370"/>
                  </a:cubicBezTo>
                  <a:lnTo>
                    <a:pt x="0" y="44315"/>
                  </a:lnTo>
                  <a:cubicBezTo>
                    <a:pt x="0" y="32562"/>
                    <a:pt x="4669" y="21290"/>
                    <a:pt x="12980" y="12980"/>
                  </a:cubicBezTo>
                  <a:cubicBezTo>
                    <a:pt x="21290" y="4669"/>
                    <a:pt x="32562" y="0"/>
                    <a:pt x="44315" y="0"/>
                  </a:cubicBezTo>
                  <a:close/>
                </a:path>
              </a:pathLst>
            </a:custGeom>
            <a:gradFill rotWithShape="1">
              <a:gsLst>
                <a:gs pos="0">
                  <a:srgbClr val="000F9B">
                    <a:alpha val="100000"/>
                  </a:srgbClr>
                </a:gs>
                <a:gs pos="50000">
                  <a:srgbClr val="EB0000">
                    <a:alpha val="100000"/>
                  </a:srgbClr>
                </a:gs>
                <a:gs pos="100000">
                  <a:srgbClr val="A000EB">
                    <a:alpha val="100000"/>
                  </a:srgbClr>
                </a:gs>
              </a:gsLst>
              <a:path path="circle">
                <a:fillToRect r="100000" b="100000"/>
              </a:path>
              <a:tileRect l="-100000" t="-100000"/>
            </a:gradFill>
          </p:spPr>
        </p:sp>
        <p:sp>
          <p:nvSpPr>
            <p:cNvPr id="13" name="TextBox 13">
              <a:extLst>
                <a:ext uri="{FF2B5EF4-FFF2-40B4-BE49-F238E27FC236}">
                  <a16:creationId xmlns:a16="http://schemas.microsoft.com/office/drawing/2014/main" id="{0C36B774-7347-3EE6-1670-BD97EFE0E6BA}"/>
                </a:ext>
              </a:extLst>
            </p:cNvPr>
            <p:cNvSpPr txBox="1"/>
            <p:nvPr/>
          </p:nvSpPr>
          <p:spPr>
            <a:xfrm>
              <a:off x="0" y="-66675"/>
              <a:ext cx="2576646" cy="1607360"/>
            </a:xfrm>
            <a:prstGeom prst="rect">
              <a:avLst/>
            </a:prstGeom>
          </p:spPr>
          <p:txBody>
            <a:bodyPr lIns="50800" tIns="50800" rIns="50800" bIns="50800" rtlCol="0" anchor="ctr"/>
            <a:lstStyle/>
            <a:p>
              <a:pPr algn="ctr">
                <a:lnSpc>
                  <a:spcPts val="3151"/>
                </a:lnSpc>
              </a:pPr>
              <a:endParaRPr/>
            </a:p>
          </p:txBody>
        </p:sp>
      </p:grpSp>
      <p:sp>
        <p:nvSpPr>
          <p:cNvPr id="18" name="TextBox 17">
            <a:extLst>
              <a:ext uri="{FF2B5EF4-FFF2-40B4-BE49-F238E27FC236}">
                <a16:creationId xmlns:a16="http://schemas.microsoft.com/office/drawing/2014/main" id="{398DD351-1A0A-C501-FD64-27CCCE970816}"/>
              </a:ext>
            </a:extLst>
          </p:cNvPr>
          <p:cNvSpPr txBox="1"/>
          <p:nvPr/>
        </p:nvSpPr>
        <p:spPr>
          <a:xfrm>
            <a:off x="1028700" y="1686633"/>
            <a:ext cx="2247900" cy="952633"/>
          </a:xfrm>
          <a:prstGeom prst="rect">
            <a:avLst/>
          </a:prstGeom>
          <a:noFill/>
        </p:spPr>
        <p:txBody>
          <a:bodyPr wrap="square">
            <a:spAutoFit/>
          </a:bodyPr>
          <a:lstStyle/>
          <a:p>
            <a:pPr algn="l">
              <a:lnSpc>
                <a:spcPts val="8077"/>
              </a:lnSpc>
            </a:pPr>
            <a:r>
              <a:rPr lang="en-US" sz="2400" b="1" spc="-356" dirty="0">
                <a:solidFill>
                  <a:srgbClr val="FFFFFF"/>
                </a:solidFill>
                <a:latin typeface="Telegraf Bold"/>
                <a:ea typeface="Telegraf Bold"/>
                <a:cs typeface="Telegraf Bold"/>
                <a:sym typeface="Telegraf Bold"/>
              </a:rPr>
              <a:t>About  Company</a:t>
            </a:r>
          </a:p>
        </p:txBody>
      </p:sp>
      <p:sp>
        <p:nvSpPr>
          <p:cNvPr id="20" name="TextBox 19">
            <a:extLst>
              <a:ext uri="{FF2B5EF4-FFF2-40B4-BE49-F238E27FC236}">
                <a16:creationId xmlns:a16="http://schemas.microsoft.com/office/drawing/2014/main" id="{9A2C53C1-67E2-3C53-BF45-D89472887DCD}"/>
              </a:ext>
            </a:extLst>
          </p:cNvPr>
          <p:cNvSpPr txBox="1"/>
          <p:nvPr/>
        </p:nvSpPr>
        <p:spPr>
          <a:xfrm>
            <a:off x="1172029" y="3407993"/>
            <a:ext cx="7908728" cy="4554708"/>
          </a:xfrm>
          <a:prstGeom prst="rect">
            <a:avLst/>
          </a:prstGeom>
          <a:noFill/>
        </p:spPr>
        <p:txBody>
          <a:bodyPr wrap="square">
            <a:spAutoFit/>
          </a:bodyPr>
          <a:lstStyle/>
          <a:p>
            <a:pPr algn="just">
              <a:lnSpc>
                <a:spcPts val="3499"/>
              </a:lnSpc>
            </a:pPr>
            <a:r>
              <a:rPr lang="en-US" sz="2500" dirty="0">
                <a:solidFill>
                  <a:srgbClr val="FFFFFF"/>
                </a:solidFill>
                <a:latin typeface="Poppins"/>
                <a:ea typeface="Poppins"/>
                <a:cs typeface="Poppins"/>
                <a:sym typeface="Poppins"/>
              </a:rPr>
              <a:t>Nova Mart is a modern retail store that offers a wide range of products — from groceries and household essentials to fashion and electronics — all under one roof. It focuses on providing customers with quality products at affordable prices, ensuring a convenient and satisfying shopping experience. Nova Mart combines technology-driven services with excellent customer support to make everyday shopping simple, smart, and efficient.</a:t>
            </a:r>
          </a:p>
        </p:txBody>
      </p:sp>
      <p:sp>
        <p:nvSpPr>
          <p:cNvPr id="27" name="Freeform 4">
            <a:extLst>
              <a:ext uri="{FF2B5EF4-FFF2-40B4-BE49-F238E27FC236}">
                <a16:creationId xmlns:a16="http://schemas.microsoft.com/office/drawing/2014/main" id="{D3AD28C8-1B2E-6C87-4603-AB7E33CE4F3B}"/>
              </a:ext>
            </a:extLst>
          </p:cNvPr>
          <p:cNvSpPr/>
          <p:nvPr/>
        </p:nvSpPr>
        <p:spPr>
          <a:xfrm>
            <a:off x="9816843" y="3656769"/>
            <a:ext cx="7349414" cy="5128906"/>
          </a:xfrm>
          <a:custGeom>
            <a:avLst/>
            <a:gdLst/>
            <a:ahLst/>
            <a:cxnLst/>
            <a:rect l="l" t="t" r="r" b="b"/>
            <a:pathLst>
              <a:path w="2276019" h="1975074">
                <a:moveTo>
                  <a:pt x="50169" y="0"/>
                </a:moveTo>
                <a:lnTo>
                  <a:pt x="2225851" y="0"/>
                </a:lnTo>
                <a:cubicBezTo>
                  <a:pt x="2239156" y="0"/>
                  <a:pt x="2251917" y="5286"/>
                  <a:pt x="2261325" y="14694"/>
                </a:cubicBezTo>
                <a:cubicBezTo>
                  <a:pt x="2270734" y="24103"/>
                  <a:pt x="2276019" y="36863"/>
                  <a:pt x="2276019" y="50169"/>
                </a:cubicBezTo>
                <a:lnTo>
                  <a:pt x="2276019" y="1924905"/>
                </a:lnTo>
                <a:cubicBezTo>
                  <a:pt x="2276019" y="1952612"/>
                  <a:pt x="2253558" y="1975074"/>
                  <a:pt x="2225851" y="1975074"/>
                </a:cubicBezTo>
                <a:lnTo>
                  <a:pt x="50169" y="1975074"/>
                </a:lnTo>
                <a:cubicBezTo>
                  <a:pt x="36863" y="1975074"/>
                  <a:pt x="24103" y="1969788"/>
                  <a:pt x="14694" y="1960380"/>
                </a:cubicBezTo>
                <a:cubicBezTo>
                  <a:pt x="5286" y="1950971"/>
                  <a:pt x="0" y="1938210"/>
                  <a:pt x="0" y="1924905"/>
                </a:cubicBezTo>
                <a:lnTo>
                  <a:pt x="0" y="50169"/>
                </a:lnTo>
                <a:cubicBezTo>
                  <a:pt x="0" y="36863"/>
                  <a:pt x="5286" y="24103"/>
                  <a:pt x="14694" y="14694"/>
                </a:cubicBezTo>
                <a:cubicBezTo>
                  <a:pt x="24103" y="5286"/>
                  <a:pt x="36863" y="0"/>
                  <a:pt x="50169" y="0"/>
                </a:cubicBezTo>
                <a:close/>
              </a:path>
            </a:pathLst>
          </a:custGeom>
          <a:gradFill rotWithShape="1">
            <a:gsLst>
              <a:gs pos="0">
                <a:srgbClr val="000000">
                  <a:alpha val="78000"/>
                </a:srgbClr>
              </a:gs>
              <a:gs pos="100000">
                <a:srgbClr val="DDDDDD">
                  <a:alpha val="14820"/>
                </a:srgbClr>
              </a:gs>
            </a:gsLst>
            <a:lin ang="2700000"/>
          </a:gradFill>
        </p:spPr>
        <p:txBody>
          <a:bodyPr/>
          <a:lstStyle/>
          <a:p>
            <a:pPr marL="0" marR="0" lvl="0" indent="0" algn="l" defTabSz="914400" rtl="0" eaLnBrk="1" fontAlgn="auto" latinLnBrk="0" hangingPunct="1">
              <a:lnSpc>
                <a:spcPts val="8077"/>
              </a:lnSpc>
              <a:spcBef>
                <a:spcPts val="0"/>
              </a:spcBef>
              <a:spcAft>
                <a:spcPts val="0"/>
              </a:spcAft>
              <a:buClrTx/>
              <a:buSzTx/>
              <a:buFontTx/>
              <a:buNone/>
              <a:tabLst/>
              <a:defRPr/>
            </a:pPr>
            <a:endParaRPr kumimoji="0" lang="en-US" sz="2400" b="1" i="0" u="none" strike="noStrike" kern="1200" cap="none" spc="-356" normalizeH="0" baseline="0" noProof="0" dirty="0">
              <a:ln>
                <a:noFill/>
              </a:ln>
              <a:solidFill>
                <a:srgbClr val="FFFFFF"/>
              </a:solidFill>
              <a:effectLst/>
              <a:uLnTx/>
              <a:uFillTx/>
              <a:latin typeface="Telegraf Bold"/>
              <a:ea typeface="Telegraf Bold"/>
              <a:cs typeface="Telegraf Bold"/>
              <a:sym typeface="Telegraf Bold"/>
            </a:endParaRPr>
          </a:p>
        </p:txBody>
      </p:sp>
      <p:grpSp>
        <p:nvGrpSpPr>
          <p:cNvPr id="30" name="Group 11">
            <a:extLst>
              <a:ext uri="{FF2B5EF4-FFF2-40B4-BE49-F238E27FC236}">
                <a16:creationId xmlns:a16="http://schemas.microsoft.com/office/drawing/2014/main" id="{2BCFDF44-5583-16BB-31B1-25DEC423B92A}"/>
              </a:ext>
            </a:extLst>
          </p:cNvPr>
          <p:cNvGrpSpPr/>
          <p:nvPr/>
        </p:nvGrpSpPr>
        <p:grpSpPr>
          <a:xfrm>
            <a:off x="10104328" y="3887602"/>
            <a:ext cx="6090254" cy="821553"/>
            <a:chOff x="0" y="-66676"/>
            <a:chExt cx="2581514" cy="1607361"/>
          </a:xfrm>
        </p:grpSpPr>
        <p:sp>
          <p:nvSpPr>
            <p:cNvPr id="31" name="Freeform 12">
              <a:extLst>
                <a:ext uri="{FF2B5EF4-FFF2-40B4-BE49-F238E27FC236}">
                  <a16:creationId xmlns:a16="http://schemas.microsoft.com/office/drawing/2014/main" id="{29758BE9-A57B-6211-D19A-40A9E1C19098}"/>
                </a:ext>
              </a:extLst>
            </p:cNvPr>
            <p:cNvSpPr/>
            <p:nvPr/>
          </p:nvSpPr>
          <p:spPr>
            <a:xfrm>
              <a:off x="4868" y="-66676"/>
              <a:ext cx="2576646" cy="1540685"/>
            </a:xfrm>
            <a:custGeom>
              <a:avLst/>
              <a:gdLst/>
              <a:ahLst/>
              <a:cxnLst/>
              <a:rect l="l" t="t" r="r" b="b"/>
              <a:pathLst>
                <a:path w="2576646" h="1540685">
                  <a:moveTo>
                    <a:pt x="44315" y="0"/>
                  </a:moveTo>
                  <a:lnTo>
                    <a:pt x="2532331" y="0"/>
                  </a:lnTo>
                  <a:cubicBezTo>
                    <a:pt x="2556806" y="0"/>
                    <a:pt x="2576646" y="19841"/>
                    <a:pt x="2576646" y="44315"/>
                  </a:cubicBezTo>
                  <a:lnTo>
                    <a:pt x="2576646" y="1496370"/>
                  </a:lnTo>
                  <a:cubicBezTo>
                    <a:pt x="2576646" y="1508123"/>
                    <a:pt x="2571977" y="1519395"/>
                    <a:pt x="2563667" y="1527705"/>
                  </a:cubicBezTo>
                  <a:cubicBezTo>
                    <a:pt x="2555356" y="1536016"/>
                    <a:pt x="2544084" y="1540685"/>
                    <a:pt x="2532331" y="1540685"/>
                  </a:cubicBezTo>
                  <a:lnTo>
                    <a:pt x="44315" y="1540685"/>
                  </a:lnTo>
                  <a:cubicBezTo>
                    <a:pt x="32562" y="1540685"/>
                    <a:pt x="21290" y="1536016"/>
                    <a:pt x="12980" y="1527705"/>
                  </a:cubicBezTo>
                  <a:cubicBezTo>
                    <a:pt x="4669" y="1519395"/>
                    <a:pt x="0" y="1508123"/>
                    <a:pt x="0" y="1496370"/>
                  </a:cubicBezTo>
                  <a:lnTo>
                    <a:pt x="0" y="44315"/>
                  </a:lnTo>
                  <a:cubicBezTo>
                    <a:pt x="0" y="32562"/>
                    <a:pt x="4669" y="21290"/>
                    <a:pt x="12980" y="12980"/>
                  </a:cubicBezTo>
                  <a:cubicBezTo>
                    <a:pt x="21290" y="4669"/>
                    <a:pt x="32562" y="0"/>
                    <a:pt x="44315" y="0"/>
                  </a:cubicBezTo>
                  <a:close/>
                </a:path>
              </a:pathLst>
            </a:custGeom>
            <a:gradFill rotWithShape="1">
              <a:gsLst>
                <a:gs pos="0">
                  <a:srgbClr val="000F9B">
                    <a:alpha val="100000"/>
                  </a:srgbClr>
                </a:gs>
                <a:gs pos="50000">
                  <a:srgbClr val="EB0000">
                    <a:alpha val="100000"/>
                  </a:srgbClr>
                </a:gs>
                <a:gs pos="100000">
                  <a:srgbClr val="A000EB">
                    <a:alpha val="100000"/>
                  </a:srgbClr>
                </a:gs>
              </a:gsLst>
              <a:path path="circle">
                <a:fillToRect r="100000" b="100000"/>
              </a:path>
              <a:tileRect l="-100000" t="-100000"/>
            </a:gradFill>
          </p:spPr>
        </p:sp>
        <p:sp>
          <p:nvSpPr>
            <p:cNvPr id="32" name="TextBox 13">
              <a:extLst>
                <a:ext uri="{FF2B5EF4-FFF2-40B4-BE49-F238E27FC236}">
                  <a16:creationId xmlns:a16="http://schemas.microsoft.com/office/drawing/2014/main" id="{1796BD2A-9C18-BC2F-F107-FEF5F650562F}"/>
                </a:ext>
              </a:extLst>
            </p:cNvPr>
            <p:cNvSpPr txBox="1"/>
            <p:nvPr/>
          </p:nvSpPr>
          <p:spPr>
            <a:xfrm>
              <a:off x="0" y="-66675"/>
              <a:ext cx="2576646" cy="1607360"/>
            </a:xfrm>
            <a:prstGeom prst="rect">
              <a:avLst/>
            </a:prstGeom>
          </p:spPr>
          <p:txBody>
            <a:bodyPr lIns="50800" tIns="50800" rIns="50800" bIns="50800" rtlCol="0" anchor="ctr"/>
            <a:lstStyle/>
            <a:p>
              <a:pPr algn="ctr">
                <a:lnSpc>
                  <a:spcPts val="3151"/>
                </a:lnSpc>
              </a:pPr>
              <a:endParaRPr/>
            </a:p>
          </p:txBody>
        </p:sp>
      </p:grpSp>
      <p:sp>
        <p:nvSpPr>
          <p:cNvPr id="33" name="TextBox 32">
            <a:extLst>
              <a:ext uri="{FF2B5EF4-FFF2-40B4-BE49-F238E27FC236}">
                <a16:creationId xmlns:a16="http://schemas.microsoft.com/office/drawing/2014/main" id="{2A639056-7D05-9B5C-772A-E73FEDECADAC}"/>
              </a:ext>
            </a:extLst>
          </p:cNvPr>
          <p:cNvSpPr txBox="1"/>
          <p:nvPr/>
        </p:nvSpPr>
        <p:spPr>
          <a:xfrm>
            <a:off x="10136280" y="4067546"/>
            <a:ext cx="2209800" cy="461665"/>
          </a:xfrm>
          <a:prstGeom prst="rect">
            <a:avLst/>
          </a:prstGeom>
          <a:noFill/>
        </p:spPr>
        <p:txBody>
          <a:bodyPr wrap="square" rtlCol="0">
            <a:spAutoFit/>
          </a:bodyPr>
          <a:lstStyle/>
          <a:p>
            <a:r>
              <a:rPr lang="en-US" sz="2400" dirty="0">
                <a:solidFill>
                  <a:schemeClr val="bg1"/>
                </a:solidFill>
                <a:latin typeface="Telegraf Bold" panose="020B0604020202020204" charset="0"/>
              </a:rPr>
              <a:t>Datasets</a:t>
            </a:r>
            <a:r>
              <a:rPr lang="en-US" dirty="0">
                <a:solidFill>
                  <a:schemeClr val="bg1"/>
                </a:solidFill>
              </a:rPr>
              <a:t> :</a:t>
            </a:r>
            <a:endParaRPr lang="en-IN" dirty="0">
              <a:solidFill>
                <a:schemeClr val="bg1"/>
              </a:solidFill>
            </a:endParaRPr>
          </a:p>
        </p:txBody>
      </p:sp>
      <p:sp>
        <p:nvSpPr>
          <p:cNvPr id="35" name="TextBox 34">
            <a:extLst>
              <a:ext uri="{FF2B5EF4-FFF2-40B4-BE49-F238E27FC236}">
                <a16:creationId xmlns:a16="http://schemas.microsoft.com/office/drawing/2014/main" id="{4BCA63AE-EB04-C841-55F8-F784997DEF72}"/>
              </a:ext>
            </a:extLst>
          </p:cNvPr>
          <p:cNvSpPr txBox="1"/>
          <p:nvPr/>
        </p:nvSpPr>
        <p:spPr>
          <a:xfrm>
            <a:off x="10806550" y="5013134"/>
            <a:ext cx="5128010" cy="2062103"/>
          </a:xfrm>
          <a:prstGeom prst="rect">
            <a:avLst/>
          </a:prstGeom>
          <a:noFill/>
        </p:spPr>
        <p:txBody>
          <a:bodyPr wrap="square" rtlCol="0">
            <a:spAutoFit/>
          </a:bodyPr>
          <a:lstStyle/>
          <a:p>
            <a:r>
              <a:rPr lang="en-IN" sz="3200" dirty="0">
                <a:solidFill>
                  <a:schemeClr val="bg1"/>
                </a:solidFill>
              </a:rPr>
              <a:t>1. </a:t>
            </a:r>
            <a:r>
              <a:rPr lang="en-IN" sz="3200" dirty="0" err="1">
                <a:solidFill>
                  <a:schemeClr val="bg1"/>
                </a:solidFill>
              </a:rPr>
              <a:t>dim_campaigns</a:t>
            </a:r>
            <a:endParaRPr lang="en-IN" sz="3200" dirty="0">
              <a:solidFill>
                <a:schemeClr val="bg1"/>
              </a:solidFill>
            </a:endParaRPr>
          </a:p>
          <a:p>
            <a:r>
              <a:rPr lang="en-IN" sz="3200" dirty="0">
                <a:solidFill>
                  <a:schemeClr val="bg1"/>
                </a:solidFill>
              </a:rPr>
              <a:t>2. </a:t>
            </a:r>
            <a:r>
              <a:rPr lang="en-IN" sz="3200" dirty="0" err="1">
                <a:solidFill>
                  <a:schemeClr val="bg1"/>
                </a:solidFill>
              </a:rPr>
              <a:t>dim_products</a:t>
            </a:r>
            <a:endParaRPr lang="en-IN" sz="3200" dirty="0">
              <a:solidFill>
                <a:schemeClr val="bg1"/>
              </a:solidFill>
            </a:endParaRPr>
          </a:p>
          <a:p>
            <a:r>
              <a:rPr lang="en-IN" sz="3200" dirty="0">
                <a:solidFill>
                  <a:schemeClr val="bg1"/>
                </a:solidFill>
              </a:rPr>
              <a:t>3. </a:t>
            </a:r>
            <a:r>
              <a:rPr lang="en-IN" sz="3200" dirty="0" err="1">
                <a:solidFill>
                  <a:schemeClr val="bg1"/>
                </a:solidFill>
              </a:rPr>
              <a:t>dim_stores</a:t>
            </a:r>
            <a:endParaRPr lang="en-IN" sz="3200" dirty="0">
              <a:solidFill>
                <a:schemeClr val="bg1"/>
              </a:solidFill>
            </a:endParaRPr>
          </a:p>
          <a:p>
            <a:r>
              <a:rPr lang="en-IN" sz="3200" dirty="0">
                <a:solidFill>
                  <a:schemeClr val="bg1"/>
                </a:solidFill>
              </a:rPr>
              <a:t>4. </a:t>
            </a:r>
            <a:r>
              <a:rPr lang="en-IN" sz="3200" dirty="0" err="1">
                <a:solidFill>
                  <a:schemeClr val="bg1"/>
                </a:solidFill>
              </a:rPr>
              <a:t>fact_events</a:t>
            </a:r>
            <a:endParaRPr lang="en-IN" sz="3200" dirty="0">
              <a:solidFill>
                <a:schemeClr val="bg1"/>
              </a:solidFill>
            </a:endParaRPr>
          </a:p>
        </p:txBody>
      </p:sp>
    </p:spTree>
    <p:extLst>
      <p:ext uri="{BB962C8B-B14F-4D97-AF65-F5344CB8AC3E}">
        <p14:creationId xmlns:p14="http://schemas.microsoft.com/office/powerpoint/2010/main" val="1947508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803986" y="803986"/>
            <a:ext cx="449429" cy="449429"/>
          </a:xfrm>
          <a:custGeom>
            <a:avLst/>
            <a:gdLst/>
            <a:ahLst/>
            <a:cxnLst/>
            <a:rect l="l" t="t" r="r" b="b"/>
            <a:pathLst>
              <a:path w="449429" h="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363845" y="768097"/>
            <a:ext cx="2685498" cy="409023"/>
          </a:xfrm>
          <a:prstGeom prst="rect">
            <a:avLst/>
          </a:prstGeom>
        </p:spPr>
        <p:txBody>
          <a:bodyPr lIns="0" tIns="0" rIns="0" bIns="0" rtlCol="0" anchor="t">
            <a:spAutoFit/>
          </a:bodyPr>
          <a:lstStyle/>
          <a:p>
            <a:pPr>
              <a:lnSpc>
                <a:spcPts val="3391"/>
              </a:lnSpc>
              <a:spcBef>
                <a:spcPct val="0"/>
              </a:spcBef>
            </a:pPr>
            <a:r>
              <a:rPr lang="en-US" sz="2422" b="1" spc="-109" dirty="0">
                <a:solidFill>
                  <a:srgbClr val="FFFFFF"/>
                </a:solidFill>
                <a:latin typeface="Telegraf Bold"/>
                <a:ea typeface="Telegraf Bold"/>
                <a:cs typeface="Telegraf Bold"/>
                <a:sym typeface="Telegraf Bold"/>
              </a:rPr>
              <a:t>Nova Mart</a:t>
            </a:r>
          </a:p>
        </p:txBody>
      </p:sp>
      <p:sp>
        <p:nvSpPr>
          <p:cNvPr id="4" name="TextBox 4"/>
          <p:cNvSpPr txBox="1"/>
          <p:nvPr/>
        </p:nvSpPr>
        <p:spPr>
          <a:xfrm>
            <a:off x="9144000" y="841660"/>
            <a:ext cx="1662550"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Home</a:t>
            </a:r>
          </a:p>
        </p:txBody>
      </p:sp>
      <p:sp>
        <p:nvSpPr>
          <p:cNvPr id="5" name="TextBox 5"/>
          <p:cNvSpPr txBox="1"/>
          <p:nvPr/>
        </p:nvSpPr>
        <p:spPr>
          <a:xfrm>
            <a:off x="11408122" y="843874"/>
            <a:ext cx="1907082" cy="409541"/>
          </a:xfrm>
          <a:prstGeom prst="rect">
            <a:avLst/>
          </a:prstGeom>
        </p:spPr>
        <p:txBody>
          <a:bodyPr lIns="0" tIns="0" rIns="0" bIns="0" rtlCol="0" anchor="t">
            <a:spAutoFit/>
          </a:bodyPr>
          <a:lstStyle/>
          <a:p>
            <a:pPr marL="0" lvl="0" indent="0" algn="ctr">
              <a:lnSpc>
                <a:spcPts val="3151"/>
              </a:lnSpc>
              <a:spcBef>
                <a:spcPct val="0"/>
              </a:spcBef>
            </a:pPr>
            <a:r>
              <a:rPr lang="en-US" sz="2251">
                <a:solidFill>
                  <a:srgbClr val="FFFFFF"/>
                </a:solidFill>
                <a:latin typeface="Poppins"/>
                <a:ea typeface="Poppins"/>
                <a:cs typeface="Poppins"/>
                <a:sym typeface="Poppins"/>
              </a:rPr>
              <a:t>About</a:t>
            </a:r>
          </a:p>
        </p:txBody>
      </p:sp>
      <p:sp>
        <p:nvSpPr>
          <p:cNvPr id="6" name="TextBox 6"/>
          <p:cNvSpPr txBox="1"/>
          <p:nvPr/>
        </p:nvSpPr>
        <p:spPr>
          <a:xfrm>
            <a:off x="13726729" y="819695"/>
            <a:ext cx="1916881" cy="409541"/>
          </a:xfrm>
          <a:prstGeom prst="rect">
            <a:avLst/>
          </a:prstGeom>
        </p:spPr>
        <p:txBody>
          <a:bodyPr lIns="0" tIns="0" rIns="0" bIns="0" rtlCol="0" anchor="t">
            <a:spAutoFit/>
          </a:bodyPr>
          <a:lstStyle/>
          <a:p>
            <a:pPr marL="0" lvl="0" indent="0" algn="ctr">
              <a:lnSpc>
                <a:spcPts val="3151"/>
              </a:lnSpc>
              <a:spcBef>
                <a:spcPct val="0"/>
              </a:spcBef>
            </a:pPr>
            <a:r>
              <a:rPr lang="en-US" sz="2251" b="1" dirty="0">
                <a:solidFill>
                  <a:srgbClr val="FFFFFF"/>
                </a:solidFill>
                <a:latin typeface="Poppins Bold"/>
                <a:ea typeface="Poppins Bold"/>
                <a:cs typeface="Poppins Bold"/>
                <a:sym typeface="Poppins Bold"/>
              </a:rPr>
              <a:t>Content</a:t>
            </a:r>
          </a:p>
        </p:txBody>
      </p:sp>
      <p:sp>
        <p:nvSpPr>
          <p:cNvPr id="7" name="TextBox 7"/>
          <p:cNvSpPr txBox="1"/>
          <p:nvPr/>
        </p:nvSpPr>
        <p:spPr>
          <a:xfrm>
            <a:off x="15034325" y="841660"/>
            <a:ext cx="2224975"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Others</a:t>
            </a:r>
          </a:p>
        </p:txBody>
      </p:sp>
      <p:grpSp>
        <p:nvGrpSpPr>
          <p:cNvPr id="8" name="Group 8"/>
          <p:cNvGrpSpPr/>
          <p:nvPr/>
        </p:nvGrpSpPr>
        <p:grpSpPr>
          <a:xfrm>
            <a:off x="803986" y="1851792"/>
            <a:ext cx="6657292" cy="5849788"/>
            <a:chOff x="0" y="0"/>
            <a:chExt cx="1659648" cy="1556868"/>
          </a:xfrm>
        </p:grpSpPr>
        <p:sp>
          <p:nvSpPr>
            <p:cNvPr id="9" name="Freeform 9"/>
            <p:cNvSpPr/>
            <p:nvPr/>
          </p:nvSpPr>
          <p:spPr>
            <a:xfrm>
              <a:off x="0" y="0"/>
              <a:ext cx="1659648" cy="1556868"/>
            </a:xfrm>
            <a:custGeom>
              <a:avLst/>
              <a:gdLst/>
              <a:ahLst/>
              <a:cxnLst/>
              <a:rect l="l" t="t" r="r" b="b"/>
              <a:pathLst>
                <a:path w="1659648" h="1556868">
                  <a:moveTo>
                    <a:pt x="68801" y="0"/>
                  </a:moveTo>
                  <a:lnTo>
                    <a:pt x="1590847" y="0"/>
                  </a:lnTo>
                  <a:cubicBezTo>
                    <a:pt x="1609094" y="0"/>
                    <a:pt x="1626594" y="7249"/>
                    <a:pt x="1639497" y="20151"/>
                  </a:cubicBezTo>
                  <a:cubicBezTo>
                    <a:pt x="1652399" y="33054"/>
                    <a:pt x="1659648" y="50554"/>
                    <a:pt x="1659648" y="68801"/>
                  </a:cubicBezTo>
                  <a:lnTo>
                    <a:pt x="1659648" y="1488067"/>
                  </a:lnTo>
                  <a:cubicBezTo>
                    <a:pt x="1659648" y="1506314"/>
                    <a:pt x="1652399" y="1523814"/>
                    <a:pt x="1639497" y="1536717"/>
                  </a:cubicBezTo>
                  <a:cubicBezTo>
                    <a:pt x="1626594" y="1549620"/>
                    <a:pt x="1609094" y="1556868"/>
                    <a:pt x="1590847" y="1556868"/>
                  </a:cubicBezTo>
                  <a:lnTo>
                    <a:pt x="68801" y="1556868"/>
                  </a:lnTo>
                  <a:cubicBezTo>
                    <a:pt x="50554" y="1556868"/>
                    <a:pt x="33054" y="1549620"/>
                    <a:pt x="20151" y="1536717"/>
                  </a:cubicBezTo>
                  <a:cubicBezTo>
                    <a:pt x="7249" y="1523814"/>
                    <a:pt x="0" y="1506314"/>
                    <a:pt x="0" y="1488067"/>
                  </a:cubicBezTo>
                  <a:lnTo>
                    <a:pt x="0" y="68801"/>
                  </a:lnTo>
                  <a:cubicBezTo>
                    <a:pt x="0" y="50554"/>
                    <a:pt x="7249" y="33054"/>
                    <a:pt x="20151" y="20151"/>
                  </a:cubicBezTo>
                  <a:cubicBezTo>
                    <a:pt x="33054" y="7249"/>
                    <a:pt x="50554" y="0"/>
                    <a:pt x="68801" y="0"/>
                  </a:cubicBezTo>
                  <a:close/>
                </a:path>
              </a:pathLst>
            </a:custGeom>
            <a:gradFill rotWithShape="1">
              <a:gsLst>
                <a:gs pos="0">
                  <a:srgbClr val="000000">
                    <a:alpha val="78000"/>
                  </a:srgbClr>
                </a:gs>
                <a:gs pos="100000">
                  <a:srgbClr val="DDDDDD">
                    <a:alpha val="14820"/>
                  </a:srgbClr>
                </a:gs>
              </a:gsLst>
              <a:lin ang="2700000"/>
            </a:gradFill>
          </p:spPr>
        </p:sp>
        <p:sp>
          <p:nvSpPr>
            <p:cNvPr id="10" name="TextBox 10"/>
            <p:cNvSpPr txBox="1"/>
            <p:nvPr/>
          </p:nvSpPr>
          <p:spPr>
            <a:xfrm>
              <a:off x="0" y="-66675"/>
              <a:ext cx="1659648" cy="1623543"/>
            </a:xfrm>
            <a:prstGeom prst="rect">
              <a:avLst/>
            </a:prstGeom>
          </p:spPr>
          <p:txBody>
            <a:bodyPr lIns="50800" tIns="50800" rIns="50800" bIns="50800" rtlCol="0" anchor="ctr"/>
            <a:lstStyle/>
            <a:p>
              <a:pPr algn="ctr">
                <a:lnSpc>
                  <a:spcPts val="3151"/>
                </a:lnSpc>
              </a:pPr>
              <a:endParaRPr/>
            </a:p>
          </p:txBody>
        </p:sp>
      </p:grpSp>
      <p:grpSp>
        <p:nvGrpSpPr>
          <p:cNvPr id="11" name="Group 11"/>
          <p:cNvGrpSpPr/>
          <p:nvPr/>
        </p:nvGrpSpPr>
        <p:grpSpPr>
          <a:xfrm>
            <a:off x="7703689" y="1851792"/>
            <a:ext cx="9783203" cy="5849788"/>
            <a:chOff x="0" y="0"/>
            <a:chExt cx="2576646" cy="1540685"/>
          </a:xfrm>
        </p:grpSpPr>
        <p:sp>
          <p:nvSpPr>
            <p:cNvPr id="12" name="Freeform 12"/>
            <p:cNvSpPr/>
            <p:nvPr/>
          </p:nvSpPr>
          <p:spPr>
            <a:xfrm>
              <a:off x="0" y="0"/>
              <a:ext cx="2576646" cy="1540685"/>
            </a:xfrm>
            <a:custGeom>
              <a:avLst/>
              <a:gdLst/>
              <a:ahLst/>
              <a:cxnLst/>
              <a:rect l="l" t="t" r="r" b="b"/>
              <a:pathLst>
                <a:path w="2576646" h="1540685">
                  <a:moveTo>
                    <a:pt x="44315" y="0"/>
                  </a:moveTo>
                  <a:lnTo>
                    <a:pt x="2532331" y="0"/>
                  </a:lnTo>
                  <a:cubicBezTo>
                    <a:pt x="2556806" y="0"/>
                    <a:pt x="2576646" y="19841"/>
                    <a:pt x="2576646" y="44315"/>
                  </a:cubicBezTo>
                  <a:lnTo>
                    <a:pt x="2576646" y="1496370"/>
                  </a:lnTo>
                  <a:cubicBezTo>
                    <a:pt x="2576646" y="1508123"/>
                    <a:pt x="2571977" y="1519395"/>
                    <a:pt x="2563667" y="1527705"/>
                  </a:cubicBezTo>
                  <a:cubicBezTo>
                    <a:pt x="2555356" y="1536016"/>
                    <a:pt x="2544084" y="1540685"/>
                    <a:pt x="2532331" y="1540685"/>
                  </a:cubicBezTo>
                  <a:lnTo>
                    <a:pt x="44315" y="1540685"/>
                  </a:lnTo>
                  <a:cubicBezTo>
                    <a:pt x="32562" y="1540685"/>
                    <a:pt x="21290" y="1536016"/>
                    <a:pt x="12980" y="1527705"/>
                  </a:cubicBezTo>
                  <a:cubicBezTo>
                    <a:pt x="4669" y="1519395"/>
                    <a:pt x="0" y="1508123"/>
                    <a:pt x="0" y="1496370"/>
                  </a:cubicBezTo>
                  <a:lnTo>
                    <a:pt x="0" y="44315"/>
                  </a:lnTo>
                  <a:cubicBezTo>
                    <a:pt x="0" y="32562"/>
                    <a:pt x="4669" y="21290"/>
                    <a:pt x="12980" y="12980"/>
                  </a:cubicBezTo>
                  <a:cubicBezTo>
                    <a:pt x="21290" y="4669"/>
                    <a:pt x="32562" y="0"/>
                    <a:pt x="44315" y="0"/>
                  </a:cubicBezTo>
                  <a:close/>
                </a:path>
              </a:pathLst>
            </a:custGeom>
            <a:gradFill rotWithShape="1">
              <a:gsLst>
                <a:gs pos="0">
                  <a:srgbClr val="000F9B">
                    <a:alpha val="100000"/>
                  </a:srgbClr>
                </a:gs>
                <a:gs pos="50000">
                  <a:srgbClr val="EB0000">
                    <a:alpha val="100000"/>
                  </a:srgbClr>
                </a:gs>
                <a:gs pos="100000">
                  <a:srgbClr val="A000EB">
                    <a:alpha val="100000"/>
                  </a:srgbClr>
                </a:gs>
              </a:gsLst>
              <a:path path="circle">
                <a:fillToRect r="100000" b="100000"/>
              </a:path>
              <a:tileRect l="-100000" t="-100000"/>
            </a:gradFill>
          </p:spPr>
        </p:sp>
        <p:sp>
          <p:nvSpPr>
            <p:cNvPr id="13" name="TextBox 13"/>
            <p:cNvSpPr txBox="1"/>
            <p:nvPr/>
          </p:nvSpPr>
          <p:spPr>
            <a:xfrm>
              <a:off x="0" y="-66675"/>
              <a:ext cx="2576646" cy="1607360"/>
            </a:xfrm>
            <a:prstGeom prst="rect">
              <a:avLst/>
            </a:prstGeom>
          </p:spPr>
          <p:txBody>
            <a:bodyPr lIns="50800" tIns="50800" rIns="50800" bIns="50800" rtlCol="0" anchor="ctr"/>
            <a:lstStyle/>
            <a:p>
              <a:pPr algn="ctr">
                <a:lnSpc>
                  <a:spcPts val="3151"/>
                </a:lnSpc>
              </a:pPr>
              <a:endParaRPr/>
            </a:p>
          </p:txBody>
        </p:sp>
      </p:grpSp>
      <p:grpSp>
        <p:nvGrpSpPr>
          <p:cNvPr id="14" name="Group 14"/>
          <p:cNvGrpSpPr/>
          <p:nvPr/>
        </p:nvGrpSpPr>
        <p:grpSpPr>
          <a:xfrm>
            <a:off x="803986" y="8293197"/>
            <a:ext cx="16682906" cy="1233630"/>
            <a:chOff x="0" y="0"/>
            <a:chExt cx="4393852" cy="324907"/>
          </a:xfrm>
        </p:grpSpPr>
        <p:sp>
          <p:nvSpPr>
            <p:cNvPr id="15" name="Freeform 15"/>
            <p:cNvSpPr/>
            <p:nvPr/>
          </p:nvSpPr>
          <p:spPr>
            <a:xfrm>
              <a:off x="0" y="0"/>
              <a:ext cx="4393852" cy="324907"/>
            </a:xfrm>
            <a:custGeom>
              <a:avLst/>
              <a:gdLst/>
              <a:ahLst/>
              <a:cxnLst/>
              <a:rect l="l" t="t" r="r" b="b"/>
              <a:pathLst>
                <a:path w="4393852" h="324907">
                  <a:moveTo>
                    <a:pt x="21811" y="0"/>
                  </a:moveTo>
                  <a:lnTo>
                    <a:pt x="4372041" y="0"/>
                  </a:lnTo>
                  <a:cubicBezTo>
                    <a:pt x="4384087" y="0"/>
                    <a:pt x="4393852" y="9765"/>
                    <a:pt x="4393852" y="21811"/>
                  </a:cubicBezTo>
                  <a:lnTo>
                    <a:pt x="4393852" y="303096"/>
                  </a:lnTo>
                  <a:cubicBezTo>
                    <a:pt x="4393852" y="315142"/>
                    <a:pt x="4384087" y="324907"/>
                    <a:pt x="4372041" y="324907"/>
                  </a:cubicBezTo>
                  <a:lnTo>
                    <a:pt x="21811" y="324907"/>
                  </a:lnTo>
                  <a:cubicBezTo>
                    <a:pt x="9765" y="324907"/>
                    <a:pt x="0" y="315142"/>
                    <a:pt x="0" y="303096"/>
                  </a:cubicBezTo>
                  <a:lnTo>
                    <a:pt x="0" y="21811"/>
                  </a:lnTo>
                  <a:cubicBezTo>
                    <a:pt x="0" y="9765"/>
                    <a:pt x="9765" y="0"/>
                    <a:pt x="21811" y="0"/>
                  </a:cubicBezTo>
                  <a:close/>
                </a:path>
              </a:pathLst>
            </a:custGeom>
            <a:solidFill>
              <a:srgbClr val="000000">
                <a:alpha val="0"/>
              </a:srgbClr>
            </a:solidFill>
            <a:ln w="28575" cap="rnd">
              <a:solidFill>
                <a:srgbClr val="FFFFFF"/>
              </a:solidFill>
              <a:prstDash val="solid"/>
              <a:round/>
            </a:ln>
          </p:spPr>
        </p:sp>
        <p:sp>
          <p:nvSpPr>
            <p:cNvPr id="16" name="TextBox 16"/>
            <p:cNvSpPr txBox="1"/>
            <p:nvPr/>
          </p:nvSpPr>
          <p:spPr>
            <a:xfrm>
              <a:off x="0" y="-66675"/>
              <a:ext cx="4393852" cy="391582"/>
            </a:xfrm>
            <a:prstGeom prst="rect">
              <a:avLst/>
            </a:prstGeom>
          </p:spPr>
          <p:txBody>
            <a:bodyPr lIns="50800" tIns="50800" rIns="50800" bIns="50800" rtlCol="0" anchor="ctr"/>
            <a:lstStyle/>
            <a:p>
              <a:pPr algn="ctr">
                <a:lnSpc>
                  <a:spcPts val="3151"/>
                </a:lnSpc>
              </a:pPr>
              <a:endParaRPr/>
            </a:p>
          </p:txBody>
        </p:sp>
      </p:grpSp>
      <p:sp>
        <p:nvSpPr>
          <p:cNvPr id="22" name="TextBox 21">
            <a:extLst>
              <a:ext uri="{FF2B5EF4-FFF2-40B4-BE49-F238E27FC236}">
                <a16:creationId xmlns:a16="http://schemas.microsoft.com/office/drawing/2014/main" id="{BCB5A475-447B-6DE0-75C0-7EA501C0E899}"/>
              </a:ext>
            </a:extLst>
          </p:cNvPr>
          <p:cNvSpPr txBox="1"/>
          <p:nvPr/>
        </p:nvSpPr>
        <p:spPr>
          <a:xfrm>
            <a:off x="8534400" y="2927444"/>
            <a:ext cx="8340935" cy="3693319"/>
          </a:xfrm>
          <a:prstGeom prst="rect">
            <a:avLst/>
          </a:prstGeom>
          <a:noFill/>
        </p:spPr>
        <p:txBody>
          <a:bodyPr wrap="square" rtlCol="0">
            <a:spAutoFit/>
          </a:bodyPr>
          <a:lstStyle/>
          <a:p>
            <a:r>
              <a:rPr lang="en-US" b="1" dirty="0">
                <a:solidFill>
                  <a:schemeClr val="bg1"/>
                </a:solidFill>
              </a:rPr>
              <a:t>Key Insights</a:t>
            </a:r>
          </a:p>
          <a:p>
            <a:pPr marL="342900" indent="-342900">
              <a:buFont typeface="Arial" panose="020B0604020202020204" pitchFamily="34" charset="0"/>
              <a:buChar char="•"/>
            </a:pPr>
            <a:r>
              <a:rPr lang="en-US" b="1" dirty="0">
                <a:solidFill>
                  <a:schemeClr val="bg1"/>
                </a:solidFill>
              </a:rPr>
              <a:t>Dominance:</a:t>
            </a:r>
            <a:r>
              <a:rPr lang="en-US" dirty="0">
                <a:solidFill>
                  <a:schemeClr val="bg1"/>
                </a:solidFill>
              </a:rPr>
              <a:t> Bengaluru, Chennai, and Hyderabad collectively hold exactly half of the total store count.</a:t>
            </a:r>
          </a:p>
          <a:p>
            <a:pPr marL="342900" indent="-342900">
              <a:buFont typeface="Arial" panose="020B0604020202020204" pitchFamily="34" charset="0"/>
              <a:buChar char="•"/>
            </a:pPr>
            <a:r>
              <a:rPr lang="en-US" b="1" dirty="0">
                <a:solidFill>
                  <a:schemeClr val="bg1"/>
                </a:solidFill>
              </a:rPr>
              <a:t>Plateau:</a:t>
            </a:r>
            <a:r>
              <a:rPr lang="en-US" dirty="0">
                <a:solidFill>
                  <a:schemeClr val="bg1"/>
                </a:solidFill>
              </a:rPr>
              <a:t> Four mid-tier cities are clustered uniformly, stalled at 4-5 stores each.</a:t>
            </a:r>
          </a:p>
          <a:p>
            <a:pPr marL="342900" indent="-342900">
              <a:buFont typeface="Arial" panose="020B0604020202020204" pitchFamily="34" charset="0"/>
              <a:buChar char="•"/>
            </a:pPr>
            <a:r>
              <a:rPr lang="en-US" b="1" dirty="0">
                <a:solidFill>
                  <a:schemeClr val="bg1"/>
                </a:solidFill>
              </a:rPr>
              <a:t>Low Entry:</a:t>
            </a:r>
            <a:r>
              <a:rPr lang="en-US" dirty="0">
                <a:solidFill>
                  <a:schemeClr val="bg1"/>
                </a:solidFill>
              </a:rPr>
              <a:t> Trivandrum and Vijayawada represent the lowest market investment with only 2 stores.</a:t>
            </a:r>
          </a:p>
          <a:p>
            <a:endParaRPr lang="en-US" dirty="0">
              <a:solidFill>
                <a:schemeClr val="bg1"/>
              </a:solidFill>
            </a:endParaRPr>
          </a:p>
          <a:p>
            <a:r>
              <a:rPr lang="en-US" b="1" dirty="0">
                <a:solidFill>
                  <a:schemeClr val="bg1"/>
                </a:solidFill>
              </a:rPr>
              <a:t>Recommendations:</a:t>
            </a:r>
          </a:p>
          <a:p>
            <a:pPr marL="342900" indent="-342900">
              <a:buFont typeface="Arial" panose="020B0604020202020204" pitchFamily="34" charset="0"/>
              <a:buChar char="•"/>
            </a:pPr>
            <a:r>
              <a:rPr lang="en-US" b="1" dirty="0">
                <a:solidFill>
                  <a:schemeClr val="bg1"/>
                </a:solidFill>
              </a:rPr>
              <a:t>Prioritize:</a:t>
            </a:r>
            <a:r>
              <a:rPr lang="en-US" dirty="0">
                <a:solidFill>
                  <a:schemeClr val="bg1"/>
                </a:solidFill>
              </a:rPr>
              <a:t> Target Coimbatore and Visakhapatnam for immediate expansion to Grater than  or equal to 7 stores.</a:t>
            </a:r>
          </a:p>
          <a:p>
            <a:pPr marL="342900" indent="-342900">
              <a:buFont typeface="Arial" panose="020B0604020202020204" pitchFamily="34" charset="0"/>
              <a:buChar char="•"/>
            </a:pPr>
            <a:r>
              <a:rPr lang="en-US" b="1" dirty="0">
                <a:solidFill>
                  <a:schemeClr val="bg1"/>
                </a:solidFill>
              </a:rPr>
              <a:t>Evaluate:</a:t>
            </a:r>
            <a:r>
              <a:rPr lang="en-US" dirty="0">
                <a:solidFill>
                  <a:schemeClr val="bg1"/>
                </a:solidFill>
              </a:rPr>
              <a:t> Review the performance of the 2-store cities before committing to further scaling.</a:t>
            </a:r>
          </a:p>
          <a:p>
            <a:endParaRPr lang="en-IN" dirty="0">
              <a:solidFill>
                <a:schemeClr val="bg1"/>
              </a:solidFill>
            </a:endParaRPr>
          </a:p>
        </p:txBody>
      </p:sp>
      <p:pic>
        <p:nvPicPr>
          <p:cNvPr id="24" name="Picture 23">
            <a:extLst>
              <a:ext uri="{FF2B5EF4-FFF2-40B4-BE49-F238E27FC236}">
                <a16:creationId xmlns:a16="http://schemas.microsoft.com/office/drawing/2014/main" id="{21D75B5C-3D6C-7861-91DE-E9E3749784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3316" y="3370303"/>
            <a:ext cx="6109970" cy="4092443"/>
          </a:xfrm>
          <a:prstGeom prst="rect">
            <a:avLst/>
          </a:prstGeom>
        </p:spPr>
      </p:pic>
      <p:sp>
        <p:nvSpPr>
          <p:cNvPr id="25" name="TextBox 24">
            <a:extLst>
              <a:ext uri="{FF2B5EF4-FFF2-40B4-BE49-F238E27FC236}">
                <a16:creationId xmlns:a16="http://schemas.microsoft.com/office/drawing/2014/main" id="{BA029DAB-F190-A6BC-53B6-DDD369EC364D}"/>
              </a:ext>
            </a:extLst>
          </p:cNvPr>
          <p:cNvSpPr txBox="1"/>
          <p:nvPr/>
        </p:nvSpPr>
        <p:spPr>
          <a:xfrm>
            <a:off x="1153316" y="2010883"/>
            <a:ext cx="5792054" cy="1200329"/>
          </a:xfrm>
          <a:prstGeom prst="rect">
            <a:avLst/>
          </a:prstGeom>
          <a:noFill/>
        </p:spPr>
        <p:txBody>
          <a:bodyPr wrap="square" rtlCol="0">
            <a:spAutoFit/>
          </a:bodyPr>
          <a:lstStyle/>
          <a:p>
            <a:r>
              <a:rPr lang="en-US" dirty="0">
                <a:solidFill>
                  <a:schemeClr val="bg1"/>
                </a:solidFill>
              </a:rPr>
              <a:t>1. Visualize the number of stores in each city. Identify the city with the most stores and explain the distribution of stores across other cities. How does the number of stores in Bengaluru compare with those in Hyderabad and Chennai?</a:t>
            </a:r>
            <a:endParaRPr lang="en-IN" dirty="0">
              <a:solidFill>
                <a:schemeClr val="bg1"/>
              </a:solidFill>
            </a:endParaRPr>
          </a:p>
        </p:txBody>
      </p:sp>
      <p:sp>
        <p:nvSpPr>
          <p:cNvPr id="26" name="TextBox 25">
            <a:extLst>
              <a:ext uri="{FF2B5EF4-FFF2-40B4-BE49-F238E27FC236}">
                <a16:creationId xmlns:a16="http://schemas.microsoft.com/office/drawing/2014/main" id="{E1EEBA37-2840-DB0B-31AE-9EDAA47DCC5C}"/>
              </a:ext>
            </a:extLst>
          </p:cNvPr>
          <p:cNvSpPr txBox="1"/>
          <p:nvPr/>
        </p:nvSpPr>
        <p:spPr>
          <a:xfrm>
            <a:off x="1028700" y="8679180"/>
            <a:ext cx="15963900" cy="461665"/>
          </a:xfrm>
          <a:prstGeom prst="rect">
            <a:avLst/>
          </a:prstGeom>
          <a:noFill/>
        </p:spPr>
        <p:txBody>
          <a:bodyPr wrap="square" rtlCol="0">
            <a:spAutoFit/>
          </a:bodyPr>
          <a:lstStyle/>
          <a:p>
            <a:r>
              <a:rPr lang="en-US" sz="2400" b="1" dirty="0">
                <a:solidFill>
                  <a:schemeClr val="bg1"/>
                </a:solidFill>
              </a:rPr>
              <a:t>Conclusion: </a:t>
            </a:r>
            <a:r>
              <a:rPr lang="en-US" sz="2400" dirty="0">
                <a:solidFill>
                  <a:schemeClr val="bg1"/>
                </a:solidFill>
              </a:rPr>
              <a:t>The strategy relies heavily on major metros and must tactically accelerate growth in successful mid-tier markets.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161C24C6-9597-5687-4D98-34283A10B7C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25046CF-D298-69B4-2167-F3168A273955}"/>
              </a:ext>
            </a:extLst>
          </p:cNvPr>
          <p:cNvSpPr/>
          <p:nvPr/>
        </p:nvSpPr>
        <p:spPr>
          <a:xfrm>
            <a:off x="803986" y="803986"/>
            <a:ext cx="449429" cy="449429"/>
          </a:xfrm>
          <a:custGeom>
            <a:avLst/>
            <a:gdLst/>
            <a:ahLst/>
            <a:cxnLst/>
            <a:rect l="l" t="t" r="r" b="b"/>
            <a:pathLst>
              <a:path w="449429" h="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a:extLst>
              <a:ext uri="{FF2B5EF4-FFF2-40B4-BE49-F238E27FC236}">
                <a16:creationId xmlns:a16="http://schemas.microsoft.com/office/drawing/2014/main" id="{8F12A0FB-7E98-94FB-94E0-B1EB931B14F3}"/>
              </a:ext>
            </a:extLst>
          </p:cNvPr>
          <p:cNvSpPr txBox="1"/>
          <p:nvPr/>
        </p:nvSpPr>
        <p:spPr>
          <a:xfrm>
            <a:off x="1363845" y="768097"/>
            <a:ext cx="2685498" cy="409023"/>
          </a:xfrm>
          <a:prstGeom prst="rect">
            <a:avLst/>
          </a:prstGeom>
        </p:spPr>
        <p:txBody>
          <a:bodyPr lIns="0" tIns="0" rIns="0" bIns="0" rtlCol="0" anchor="t">
            <a:spAutoFit/>
          </a:bodyPr>
          <a:lstStyle/>
          <a:p>
            <a:pPr>
              <a:lnSpc>
                <a:spcPts val="3391"/>
              </a:lnSpc>
              <a:spcBef>
                <a:spcPct val="0"/>
              </a:spcBef>
            </a:pPr>
            <a:r>
              <a:rPr lang="en-US" sz="2422" b="1" spc="-109" dirty="0">
                <a:solidFill>
                  <a:srgbClr val="FFFFFF"/>
                </a:solidFill>
                <a:latin typeface="Telegraf Bold"/>
                <a:ea typeface="Telegraf Bold"/>
                <a:cs typeface="Telegraf Bold"/>
                <a:sym typeface="Telegraf Bold"/>
              </a:rPr>
              <a:t>Nova Mart</a:t>
            </a:r>
          </a:p>
        </p:txBody>
      </p:sp>
      <p:sp>
        <p:nvSpPr>
          <p:cNvPr id="4" name="TextBox 4">
            <a:extLst>
              <a:ext uri="{FF2B5EF4-FFF2-40B4-BE49-F238E27FC236}">
                <a16:creationId xmlns:a16="http://schemas.microsoft.com/office/drawing/2014/main" id="{09C27E7F-032D-EBA5-0FF3-F013009454B2}"/>
              </a:ext>
            </a:extLst>
          </p:cNvPr>
          <p:cNvSpPr txBox="1"/>
          <p:nvPr/>
        </p:nvSpPr>
        <p:spPr>
          <a:xfrm>
            <a:off x="9144000" y="841660"/>
            <a:ext cx="1662550"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Home</a:t>
            </a:r>
          </a:p>
        </p:txBody>
      </p:sp>
      <p:sp>
        <p:nvSpPr>
          <p:cNvPr id="5" name="TextBox 5">
            <a:extLst>
              <a:ext uri="{FF2B5EF4-FFF2-40B4-BE49-F238E27FC236}">
                <a16:creationId xmlns:a16="http://schemas.microsoft.com/office/drawing/2014/main" id="{0D5F4E95-C839-0D68-BD80-1E971EAA8581}"/>
              </a:ext>
            </a:extLst>
          </p:cNvPr>
          <p:cNvSpPr txBox="1"/>
          <p:nvPr/>
        </p:nvSpPr>
        <p:spPr>
          <a:xfrm>
            <a:off x="11408122" y="843874"/>
            <a:ext cx="1907082" cy="409541"/>
          </a:xfrm>
          <a:prstGeom prst="rect">
            <a:avLst/>
          </a:prstGeom>
        </p:spPr>
        <p:txBody>
          <a:bodyPr lIns="0" tIns="0" rIns="0" bIns="0" rtlCol="0" anchor="t">
            <a:spAutoFit/>
          </a:bodyPr>
          <a:lstStyle/>
          <a:p>
            <a:pPr marL="0" lvl="0" indent="0" algn="ctr">
              <a:lnSpc>
                <a:spcPts val="3151"/>
              </a:lnSpc>
              <a:spcBef>
                <a:spcPct val="0"/>
              </a:spcBef>
            </a:pPr>
            <a:r>
              <a:rPr lang="en-US" sz="2251">
                <a:solidFill>
                  <a:srgbClr val="FFFFFF"/>
                </a:solidFill>
                <a:latin typeface="Poppins"/>
                <a:ea typeface="Poppins"/>
                <a:cs typeface="Poppins"/>
                <a:sym typeface="Poppins"/>
              </a:rPr>
              <a:t>About</a:t>
            </a:r>
          </a:p>
        </p:txBody>
      </p:sp>
      <p:sp>
        <p:nvSpPr>
          <p:cNvPr id="6" name="TextBox 6">
            <a:extLst>
              <a:ext uri="{FF2B5EF4-FFF2-40B4-BE49-F238E27FC236}">
                <a16:creationId xmlns:a16="http://schemas.microsoft.com/office/drawing/2014/main" id="{C9F2C0E9-E442-189C-B0BF-5CF5676E38A0}"/>
              </a:ext>
            </a:extLst>
          </p:cNvPr>
          <p:cNvSpPr txBox="1"/>
          <p:nvPr/>
        </p:nvSpPr>
        <p:spPr>
          <a:xfrm>
            <a:off x="13726729" y="819695"/>
            <a:ext cx="1916881" cy="409541"/>
          </a:xfrm>
          <a:prstGeom prst="rect">
            <a:avLst/>
          </a:prstGeom>
        </p:spPr>
        <p:txBody>
          <a:bodyPr lIns="0" tIns="0" rIns="0" bIns="0" rtlCol="0" anchor="t">
            <a:spAutoFit/>
          </a:bodyPr>
          <a:lstStyle/>
          <a:p>
            <a:pPr marL="0" lvl="0" indent="0" algn="ctr">
              <a:lnSpc>
                <a:spcPts val="3151"/>
              </a:lnSpc>
              <a:spcBef>
                <a:spcPct val="0"/>
              </a:spcBef>
            </a:pPr>
            <a:r>
              <a:rPr lang="en-US" sz="2251" b="1">
                <a:solidFill>
                  <a:srgbClr val="FFFFFF"/>
                </a:solidFill>
                <a:latin typeface="Poppins Bold"/>
                <a:ea typeface="Poppins Bold"/>
                <a:cs typeface="Poppins Bold"/>
                <a:sym typeface="Poppins Bold"/>
              </a:rPr>
              <a:t>Content</a:t>
            </a:r>
          </a:p>
        </p:txBody>
      </p:sp>
      <p:sp>
        <p:nvSpPr>
          <p:cNvPr id="7" name="TextBox 7">
            <a:extLst>
              <a:ext uri="{FF2B5EF4-FFF2-40B4-BE49-F238E27FC236}">
                <a16:creationId xmlns:a16="http://schemas.microsoft.com/office/drawing/2014/main" id="{E14D20F5-8A48-8743-FD8A-8976C75C5CBD}"/>
              </a:ext>
            </a:extLst>
          </p:cNvPr>
          <p:cNvSpPr txBox="1"/>
          <p:nvPr/>
        </p:nvSpPr>
        <p:spPr>
          <a:xfrm>
            <a:off x="15034325" y="841660"/>
            <a:ext cx="2224975"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Others</a:t>
            </a:r>
          </a:p>
        </p:txBody>
      </p:sp>
      <p:grpSp>
        <p:nvGrpSpPr>
          <p:cNvPr id="8" name="Group 8">
            <a:extLst>
              <a:ext uri="{FF2B5EF4-FFF2-40B4-BE49-F238E27FC236}">
                <a16:creationId xmlns:a16="http://schemas.microsoft.com/office/drawing/2014/main" id="{0FD86AC3-A7D7-D168-970D-B879A09C2E70}"/>
              </a:ext>
            </a:extLst>
          </p:cNvPr>
          <p:cNvGrpSpPr/>
          <p:nvPr/>
        </p:nvGrpSpPr>
        <p:grpSpPr>
          <a:xfrm>
            <a:off x="803986" y="1851792"/>
            <a:ext cx="6657292" cy="5849788"/>
            <a:chOff x="0" y="0"/>
            <a:chExt cx="1659648" cy="1556868"/>
          </a:xfrm>
        </p:grpSpPr>
        <p:sp>
          <p:nvSpPr>
            <p:cNvPr id="9" name="Freeform 9">
              <a:extLst>
                <a:ext uri="{FF2B5EF4-FFF2-40B4-BE49-F238E27FC236}">
                  <a16:creationId xmlns:a16="http://schemas.microsoft.com/office/drawing/2014/main" id="{E76E1456-920C-D514-515B-ED2C905D3276}"/>
                </a:ext>
              </a:extLst>
            </p:cNvPr>
            <p:cNvSpPr/>
            <p:nvPr/>
          </p:nvSpPr>
          <p:spPr>
            <a:xfrm>
              <a:off x="0" y="0"/>
              <a:ext cx="1659648" cy="1556868"/>
            </a:xfrm>
            <a:custGeom>
              <a:avLst/>
              <a:gdLst/>
              <a:ahLst/>
              <a:cxnLst/>
              <a:rect l="l" t="t" r="r" b="b"/>
              <a:pathLst>
                <a:path w="1659648" h="1556868">
                  <a:moveTo>
                    <a:pt x="68801" y="0"/>
                  </a:moveTo>
                  <a:lnTo>
                    <a:pt x="1590847" y="0"/>
                  </a:lnTo>
                  <a:cubicBezTo>
                    <a:pt x="1609094" y="0"/>
                    <a:pt x="1626594" y="7249"/>
                    <a:pt x="1639497" y="20151"/>
                  </a:cubicBezTo>
                  <a:cubicBezTo>
                    <a:pt x="1652399" y="33054"/>
                    <a:pt x="1659648" y="50554"/>
                    <a:pt x="1659648" y="68801"/>
                  </a:cubicBezTo>
                  <a:lnTo>
                    <a:pt x="1659648" y="1488067"/>
                  </a:lnTo>
                  <a:cubicBezTo>
                    <a:pt x="1659648" y="1506314"/>
                    <a:pt x="1652399" y="1523814"/>
                    <a:pt x="1639497" y="1536717"/>
                  </a:cubicBezTo>
                  <a:cubicBezTo>
                    <a:pt x="1626594" y="1549620"/>
                    <a:pt x="1609094" y="1556868"/>
                    <a:pt x="1590847" y="1556868"/>
                  </a:cubicBezTo>
                  <a:lnTo>
                    <a:pt x="68801" y="1556868"/>
                  </a:lnTo>
                  <a:cubicBezTo>
                    <a:pt x="50554" y="1556868"/>
                    <a:pt x="33054" y="1549620"/>
                    <a:pt x="20151" y="1536717"/>
                  </a:cubicBezTo>
                  <a:cubicBezTo>
                    <a:pt x="7249" y="1523814"/>
                    <a:pt x="0" y="1506314"/>
                    <a:pt x="0" y="1488067"/>
                  </a:cubicBezTo>
                  <a:lnTo>
                    <a:pt x="0" y="68801"/>
                  </a:lnTo>
                  <a:cubicBezTo>
                    <a:pt x="0" y="50554"/>
                    <a:pt x="7249" y="33054"/>
                    <a:pt x="20151" y="20151"/>
                  </a:cubicBezTo>
                  <a:cubicBezTo>
                    <a:pt x="33054" y="7249"/>
                    <a:pt x="50554" y="0"/>
                    <a:pt x="68801" y="0"/>
                  </a:cubicBezTo>
                  <a:close/>
                </a:path>
              </a:pathLst>
            </a:custGeom>
            <a:gradFill rotWithShape="1">
              <a:gsLst>
                <a:gs pos="0">
                  <a:srgbClr val="000000">
                    <a:alpha val="78000"/>
                  </a:srgbClr>
                </a:gs>
                <a:gs pos="100000">
                  <a:srgbClr val="DDDDDD">
                    <a:alpha val="14820"/>
                  </a:srgbClr>
                </a:gs>
              </a:gsLst>
              <a:lin ang="2700000"/>
            </a:gradFill>
          </p:spPr>
        </p:sp>
        <p:sp>
          <p:nvSpPr>
            <p:cNvPr id="10" name="TextBox 10">
              <a:extLst>
                <a:ext uri="{FF2B5EF4-FFF2-40B4-BE49-F238E27FC236}">
                  <a16:creationId xmlns:a16="http://schemas.microsoft.com/office/drawing/2014/main" id="{805FFF2C-1CE0-A784-9284-BE47085194CA}"/>
                </a:ext>
              </a:extLst>
            </p:cNvPr>
            <p:cNvSpPr txBox="1"/>
            <p:nvPr/>
          </p:nvSpPr>
          <p:spPr>
            <a:xfrm>
              <a:off x="0" y="-66675"/>
              <a:ext cx="1659648" cy="1623543"/>
            </a:xfrm>
            <a:prstGeom prst="rect">
              <a:avLst/>
            </a:prstGeom>
          </p:spPr>
          <p:txBody>
            <a:bodyPr lIns="50800" tIns="50800" rIns="50800" bIns="50800" rtlCol="0" anchor="ctr"/>
            <a:lstStyle/>
            <a:p>
              <a:pPr algn="ctr">
                <a:lnSpc>
                  <a:spcPts val="3151"/>
                </a:lnSpc>
              </a:pPr>
              <a:endParaRPr/>
            </a:p>
          </p:txBody>
        </p:sp>
      </p:grpSp>
      <p:grpSp>
        <p:nvGrpSpPr>
          <p:cNvPr id="11" name="Group 11">
            <a:extLst>
              <a:ext uri="{FF2B5EF4-FFF2-40B4-BE49-F238E27FC236}">
                <a16:creationId xmlns:a16="http://schemas.microsoft.com/office/drawing/2014/main" id="{0E9BD2AD-6B81-6231-147C-759BA9BF2BD2}"/>
              </a:ext>
            </a:extLst>
          </p:cNvPr>
          <p:cNvGrpSpPr/>
          <p:nvPr/>
        </p:nvGrpSpPr>
        <p:grpSpPr>
          <a:xfrm>
            <a:off x="7703689" y="1851792"/>
            <a:ext cx="9783203" cy="5849788"/>
            <a:chOff x="0" y="0"/>
            <a:chExt cx="2576646" cy="1540685"/>
          </a:xfrm>
        </p:grpSpPr>
        <p:sp>
          <p:nvSpPr>
            <p:cNvPr id="12" name="Freeform 12">
              <a:extLst>
                <a:ext uri="{FF2B5EF4-FFF2-40B4-BE49-F238E27FC236}">
                  <a16:creationId xmlns:a16="http://schemas.microsoft.com/office/drawing/2014/main" id="{2E193958-5C69-D735-C7D4-B7A8818EA3CC}"/>
                </a:ext>
              </a:extLst>
            </p:cNvPr>
            <p:cNvSpPr/>
            <p:nvPr/>
          </p:nvSpPr>
          <p:spPr>
            <a:xfrm>
              <a:off x="0" y="0"/>
              <a:ext cx="2576646" cy="1540685"/>
            </a:xfrm>
            <a:custGeom>
              <a:avLst/>
              <a:gdLst/>
              <a:ahLst/>
              <a:cxnLst/>
              <a:rect l="l" t="t" r="r" b="b"/>
              <a:pathLst>
                <a:path w="2576646" h="1540685">
                  <a:moveTo>
                    <a:pt x="44315" y="0"/>
                  </a:moveTo>
                  <a:lnTo>
                    <a:pt x="2532331" y="0"/>
                  </a:lnTo>
                  <a:cubicBezTo>
                    <a:pt x="2556806" y="0"/>
                    <a:pt x="2576646" y="19841"/>
                    <a:pt x="2576646" y="44315"/>
                  </a:cubicBezTo>
                  <a:lnTo>
                    <a:pt x="2576646" y="1496370"/>
                  </a:lnTo>
                  <a:cubicBezTo>
                    <a:pt x="2576646" y="1508123"/>
                    <a:pt x="2571977" y="1519395"/>
                    <a:pt x="2563667" y="1527705"/>
                  </a:cubicBezTo>
                  <a:cubicBezTo>
                    <a:pt x="2555356" y="1536016"/>
                    <a:pt x="2544084" y="1540685"/>
                    <a:pt x="2532331" y="1540685"/>
                  </a:cubicBezTo>
                  <a:lnTo>
                    <a:pt x="44315" y="1540685"/>
                  </a:lnTo>
                  <a:cubicBezTo>
                    <a:pt x="32562" y="1540685"/>
                    <a:pt x="21290" y="1536016"/>
                    <a:pt x="12980" y="1527705"/>
                  </a:cubicBezTo>
                  <a:cubicBezTo>
                    <a:pt x="4669" y="1519395"/>
                    <a:pt x="0" y="1508123"/>
                    <a:pt x="0" y="1496370"/>
                  </a:cubicBezTo>
                  <a:lnTo>
                    <a:pt x="0" y="44315"/>
                  </a:lnTo>
                  <a:cubicBezTo>
                    <a:pt x="0" y="32562"/>
                    <a:pt x="4669" y="21290"/>
                    <a:pt x="12980" y="12980"/>
                  </a:cubicBezTo>
                  <a:cubicBezTo>
                    <a:pt x="21290" y="4669"/>
                    <a:pt x="32562" y="0"/>
                    <a:pt x="44315" y="0"/>
                  </a:cubicBezTo>
                  <a:close/>
                </a:path>
              </a:pathLst>
            </a:custGeom>
            <a:gradFill rotWithShape="1">
              <a:gsLst>
                <a:gs pos="0">
                  <a:srgbClr val="000F9B">
                    <a:alpha val="100000"/>
                  </a:srgbClr>
                </a:gs>
                <a:gs pos="50000">
                  <a:srgbClr val="EB0000">
                    <a:alpha val="100000"/>
                  </a:srgbClr>
                </a:gs>
                <a:gs pos="100000">
                  <a:srgbClr val="A000EB">
                    <a:alpha val="100000"/>
                  </a:srgbClr>
                </a:gs>
              </a:gsLst>
              <a:path path="circle">
                <a:fillToRect r="100000" b="100000"/>
              </a:path>
              <a:tileRect l="-100000" t="-100000"/>
            </a:gradFill>
          </p:spPr>
        </p:sp>
        <p:sp>
          <p:nvSpPr>
            <p:cNvPr id="13" name="TextBox 13">
              <a:extLst>
                <a:ext uri="{FF2B5EF4-FFF2-40B4-BE49-F238E27FC236}">
                  <a16:creationId xmlns:a16="http://schemas.microsoft.com/office/drawing/2014/main" id="{5ED29298-E82A-1681-4E4F-EA4B51C88E41}"/>
                </a:ext>
              </a:extLst>
            </p:cNvPr>
            <p:cNvSpPr txBox="1"/>
            <p:nvPr/>
          </p:nvSpPr>
          <p:spPr>
            <a:xfrm>
              <a:off x="0" y="-66675"/>
              <a:ext cx="2576646" cy="1607360"/>
            </a:xfrm>
            <a:prstGeom prst="rect">
              <a:avLst/>
            </a:prstGeom>
          </p:spPr>
          <p:txBody>
            <a:bodyPr lIns="50800" tIns="50800" rIns="50800" bIns="50800" rtlCol="0" anchor="ctr"/>
            <a:lstStyle/>
            <a:p>
              <a:pPr algn="ctr">
                <a:lnSpc>
                  <a:spcPts val="3151"/>
                </a:lnSpc>
              </a:pPr>
              <a:endParaRPr/>
            </a:p>
          </p:txBody>
        </p:sp>
      </p:grpSp>
      <p:grpSp>
        <p:nvGrpSpPr>
          <p:cNvPr id="14" name="Group 14">
            <a:extLst>
              <a:ext uri="{FF2B5EF4-FFF2-40B4-BE49-F238E27FC236}">
                <a16:creationId xmlns:a16="http://schemas.microsoft.com/office/drawing/2014/main" id="{D1CA6F55-E5B5-AC59-EE97-6372FA2CD29E}"/>
              </a:ext>
            </a:extLst>
          </p:cNvPr>
          <p:cNvGrpSpPr/>
          <p:nvPr/>
        </p:nvGrpSpPr>
        <p:grpSpPr>
          <a:xfrm>
            <a:off x="803986" y="8293197"/>
            <a:ext cx="16682906" cy="1233630"/>
            <a:chOff x="0" y="0"/>
            <a:chExt cx="4393852" cy="324907"/>
          </a:xfrm>
        </p:grpSpPr>
        <p:sp>
          <p:nvSpPr>
            <p:cNvPr id="15" name="Freeform 15">
              <a:extLst>
                <a:ext uri="{FF2B5EF4-FFF2-40B4-BE49-F238E27FC236}">
                  <a16:creationId xmlns:a16="http://schemas.microsoft.com/office/drawing/2014/main" id="{7849B9E8-72AE-F33A-519C-AAAA037DFA87}"/>
                </a:ext>
              </a:extLst>
            </p:cNvPr>
            <p:cNvSpPr/>
            <p:nvPr/>
          </p:nvSpPr>
          <p:spPr>
            <a:xfrm>
              <a:off x="0" y="0"/>
              <a:ext cx="4393852" cy="324907"/>
            </a:xfrm>
            <a:custGeom>
              <a:avLst/>
              <a:gdLst/>
              <a:ahLst/>
              <a:cxnLst/>
              <a:rect l="l" t="t" r="r" b="b"/>
              <a:pathLst>
                <a:path w="4393852" h="324907">
                  <a:moveTo>
                    <a:pt x="21811" y="0"/>
                  </a:moveTo>
                  <a:lnTo>
                    <a:pt x="4372041" y="0"/>
                  </a:lnTo>
                  <a:cubicBezTo>
                    <a:pt x="4384087" y="0"/>
                    <a:pt x="4393852" y="9765"/>
                    <a:pt x="4393852" y="21811"/>
                  </a:cubicBezTo>
                  <a:lnTo>
                    <a:pt x="4393852" y="303096"/>
                  </a:lnTo>
                  <a:cubicBezTo>
                    <a:pt x="4393852" y="315142"/>
                    <a:pt x="4384087" y="324907"/>
                    <a:pt x="4372041" y="324907"/>
                  </a:cubicBezTo>
                  <a:lnTo>
                    <a:pt x="21811" y="324907"/>
                  </a:lnTo>
                  <a:cubicBezTo>
                    <a:pt x="9765" y="324907"/>
                    <a:pt x="0" y="315142"/>
                    <a:pt x="0" y="303096"/>
                  </a:cubicBezTo>
                  <a:lnTo>
                    <a:pt x="0" y="21811"/>
                  </a:lnTo>
                  <a:cubicBezTo>
                    <a:pt x="0" y="9765"/>
                    <a:pt x="9765" y="0"/>
                    <a:pt x="21811" y="0"/>
                  </a:cubicBezTo>
                  <a:close/>
                </a:path>
              </a:pathLst>
            </a:custGeom>
            <a:solidFill>
              <a:srgbClr val="000000">
                <a:alpha val="0"/>
              </a:srgbClr>
            </a:solidFill>
            <a:ln w="28575" cap="rnd">
              <a:solidFill>
                <a:srgbClr val="FFFFFF"/>
              </a:solidFill>
              <a:prstDash val="solid"/>
              <a:round/>
            </a:ln>
          </p:spPr>
        </p:sp>
        <p:sp>
          <p:nvSpPr>
            <p:cNvPr id="16" name="TextBox 16">
              <a:extLst>
                <a:ext uri="{FF2B5EF4-FFF2-40B4-BE49-F238E27FC236}">
                  <a16:creationId xmlns:a16="http://schemas.microsoft.com/office/drawing/2014/main" id="{355AABAA-E83D-0588-BEBD-890DE779EBE8}"/>
                </a:ext>
              </a:extLst>
            </p:cNvPr>
            <p:cNvSpPr txBox="1"/>
            <p:nvPr/>
          </p:nvSpPr>
          <p:spPr>
            <a:xfrm>
              <a:off x="0" y="-66675"/>
              <a:ext cx="4393852" cy="391582"/>
            </a:xfrm>
            <a:prstGeom prst="rect">
              <a:avLst/>
            </a:prstGeom>
          </p:spPr>
          <p:txBody>
            <a:bodyPr lIns="50800" tIns="50800" rIns="50800" bIns="50800" rtlCol="0" anchor="ctr"/>
            <a:lstStyle/>
            <a:p>
              <a:pPr algn="ctr">
                <a:lnSpc>
                  <a:spcPts val="3151"/>
                </a:lnSpc>
              </a:pPr>
              <a:endParaRPr/>
            </a:p>
          </p:txBody>
        </p:sp>
      </p:grpSp>
      <p:sp>
        <p:nvSpPr>
          <p:cNvPr id="22" name="TextBox 21">
            <a:extLst>
              <a:ext uri="{FF2B5EF4-FFF2-40B4-BE49-F238E27FC236}">
                <a16:creationId xmlns:a16="http://schemas.microsoft.com/office/drawing/2014/main" id="{1609B04C-37C1-6358-FF5D-90024646C5B1}"/>
              </a:ext>
            </a:extLst>
          </p:cNvPr>
          <p:cNvSpPr txBox="1"/>
          <p:nvPr/>
        </p:nvSpPr>
        <p:spPr>
          <a:xfrm>
            <a:off x="8468558" y="2791527"/>
            <a:ext cx="8533141" cy="3970318"/>
          </a:xfrm>
          <a:prstGeom prst="rect">
            <a:avLst/>
          </a:prstGeom>
          <a:noFill/>
        </p:spPr>
        <p:txBody>
          <a:bodyPr wrap="square" rtlCol="0">
            <a:spAutoFit/>
          </a:bodyPr>
          <a:lstStyle/>
          <a:p>
            <a:r>
              <a:rPr lang="en-US" b="1" dirty="0">
                <a:solidFill>
                  <a:schemeClr val="bg1"/>
                </a:solidFill>
              </a:rPr>
              <a:t>Key Insights</a:t>
            </a: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Dominant Performer:</a:t>
            </a:r>
            <a:r>
              <a:rPr lang="en-US" dirty="0">
                <a:solidFill>
                  <a:schemeClr val="bg1"/>
                </a:solidFill>
              </a:rPr>
              <a:t> Grocery &amp; Staples accounts for a massive $70.5% of the total quantity sold during the promotion.</a:t>
            </a:r>
          </a:p>
          <a:p>
            <a:pPr marL="285750" indent="-285750">
              <a:buFont typeface="Arial" panose="020B0604020202020204" pitchFamily="34" charset="0"/>
              <a:buChar char="•"/>
            </a:pPr>
            <a:r>
              <a:rPr lang="en-US" b="1" dirty="0">
                <a:solidFill>
                  <a:schemeClr val="bg1"/>
                </a:solidFill>
              </a:rPr>
              <a:t>Clear Second:</a:t>
            </a:r>
            <a:r>
              <a:rPr lang="en-US" dirty="0">
                <a:solidFill>
                  <a:schemeClr val="bg1"/>
                </a:solidFill>
              </a:rPr>
              <a:t> Home Appliances is the distant runner-up with $14.1%, showing moderate success outside the core food items.</a:t>
            </a:r>
          </a:p>
          <a:p>
            <a:pPr marL="285750" indent="-285750">
              <a:buFont typeface="Arial" panose="020B0604020202020204" pitchFamily="34" charset="0"/>
              <a:buChar char="•"/>
            </a:pPr>
            <a:r>
              <a:rPr lang="en-US" b="1" dirty="0">
                <a:solidFill>
                  <a:schemeClr val="bg1"/>
                </a:solidFill>
              </a:rPr>
              <a:t>Marginal Impact:</a:t>
            </a:r>
            <a:r>
              <a:rPr lang="en-US" dirty="0">
                <a:solidFill>
                  <a:schemeClr val="bg1"/>
                </a:solidFill>
              </a:rPr>
              <a:t> The remaining three categories (Home Care, Personal Care, and Combo1) collectively contribute less than 16% to the overall sales quantity.</a:t>
            </a:r>
          </a:p>
          <a:p>
            <a:endParaRPr lang="en-US" dirty="0">
              <a:solidFill>
                <a:schemeClr val="bg1"/>
              </a:solidFill>
            </a:endParaRPr>
          </a:p>
          <a:p>
            <a:r>
              <a:rPr lang="en-US" b="1" dirty="0">
                <a:solidFill>
                  <a:schemeClr val="bg1"/>
                </a:solidFill>
              </a:rPr>
              <a:t>Recommendations</a:t>
            </a: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Maximize Grocery:</a:t>
            </a:r>
            <a:r>
              <a:rPr lang="en-US" dirty="0">
                <a:solidFill>
                  <a:schemeClr val="bg1"/>
                </a:solidFill>
              </a:rPr>
              <a:t> Continue heavily promoting Grocery &amp; Staples as it drives the vast majority of promotional volume.</a:t>
            </a:r>
          </a:p>
          <a:p>
            <a:pPr marL="285750" indent="-285750">
              <a:buFont typeface="Arial" panose="020B0604020202020204" pitchFamily="34" charset="0"/>
              <a:buChar char="•"/>
            </a:pPr>
            <a:r>
              <a:rPr lang="en-US" b="1" dirty="0">
                <a:solidFill>
                  <a:schemeClr val="bg1"/>
                </a:solidFill>
              </a:rPr>
              <a:t>Investigate Smallest Categories:</a:t>
            </a:r>
            <a:r>
              <a:rPr lang="en-US" dirty="0">
                <a:solidFill>
                  <a:schemeClr val="bg1"/>
                </a:solidFill>
              </a:rPr>
              <a:t> Analyze promotional mechanics for Personal Care and Combo1 to identify reasons for their minimal contribution.</a:t>
            </a:r>
          </a:p>
          <a:p>
            <a:endParaRPr lang="en-US" dirty="0">
              <a:solidFill>
                <a:schemeClr val="bg1"/>
              </a:solidFill>
            </a:endParaRPr>
          </a:p>
        </p:txBody>
      </p:sp>
      <p:pic>
        <p:nvPicPr>
          <p:cNvPr id="24" name="Picture 23">
            <a:extLst>
              <a:ext uri="{FF2B5EF4-FFF2-40B4-BE49-F238E27FC236}">
                <a16:creationId xmlns:a16="http://schemas.microsoft.com/office/drawing/2014/main" id="{43620D99-9AC3-A51D-5B33-22AF2055BE3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53414" y="3647302"/>
            <a:ext cx="5691955" cy="3815444"/>
          </a:xfrm>
          <a:prstGeom prst="rect">
            <a:avLst/>
          </a:prstGeom>
        </p:spPr>
      </p:pic>
      <p:sp>
        <p:nvSpPr>
          <p:cNvPr id="25" name="TextBox 24">
            <a:extLst>
              <a:ext uri="{FF2B5EF4-FFF2-40B4-BE49-F238E27FC236}">
                <a16:creationId xmlns:a16="http://schemas.microsoft.com/office/drawing/2014/main" id="{054E0A97-17B4-F808-367D-351AFFD2F0E5}"/>
              </a:ext>
            </a:extLst>
          </p:cNvPr>
          <p:cNvSpPr txBox="1"/>
          <p:nvPr/>
        </p:nvSpPr>
        <p:spPr>
          <a:xfrm>
            <a:off x="1153316" y="2010883"/>
            <a:ext cx="5792054" cy="1477328"/>
          </a:xfrm>
          <a:prstGeom prst="rect">
            <a:avLst/>
          </a:prstGeom>
          <a:noFill/>
        </p:spPr>
        <p:txBody>
          <a:bodyPr wrap="square" rtlCol="0">
            <a:spAutoFit/>
          </a:bodyPr>
          <a:lstStyle/>
          <a:p>
            <a:r>
              <a:rPr lang="en-US" dirty="0">
                <a:solidFill>
                  <a:schemeClr val="bg1"/>
                </a:solidFill>
              </a:rPr>
              <a:t>2. Analyze the total quantity sold after promotion for the Sankranti campaign across different product categories. What percentage does each category contribute to the overall sales, and what insights can be drawn from these contributions?</a:t>
            </a:r>
            <a:endParaRPr lang="en-IN" dirty="0">
              <a:solidFill>
                <a:schemeClr val="bg1"/>
              </a:solidFill>
            </a:endParaRPr>
          </a:p>
        </p:txBody>
      </p:sp>
      <p:sp>
        <p:nvSpPr>
          <p:cNvPr id="26" name="TextBox 25">
            <a:extLst>
              <a:ext uri="{FF2B5EF4-FFF2-40B4-BE49-F238E27FC236}">
                <a16:creationId xmlns:a16="http://schemas.microsoft.com/office/drawing/2014/main" id="{3FBA36D3-2495-7537-BDA2-90CB53B9652C}"/>
              </a:ext>
            </a:extLst>
          </p:cNvPr>
          <p:cNvSpPr txBox="1"/>
          <p:nvPr/>
        </p:nvSpPr>
        <p:spPr>
          <a:xfrm>
            <a:off x="1028700" y="8494513"/>
            <a:ext cx="15963900" cy="830997"/>
          </a:xfrm>
          <a:prstGeom prst="rect">
            <a:avLst/>
          </a:prstGeom>
          <a:noFill/>
        </p:spPr>
        <p:txBody>
          <a:bodyPr wrap="square" rtlCol="0">
            <a:spAutoFit/>
          </a:bodyPr>
          <a:lstStyle/>
          <a:p>
            <a:r>
              <a:rPr lang="en-US" sz="2400" b="1" dirty="0">
                <a:solidFill>
                  <a:schemeClr val="bg1"/>
                </a:solidFill>
              </a:rPr>
              <a:t>Conclusion: </a:t>
            </a:r>
            <a:r>
              <a:rPr lang="en-US" sz="2400" dirty="0">
                <a:solidFill>
                  <a:schemeClr val="bg1"/>
                </a:solidFill>
              </a:rPr>
              <a:t>The Sankranti Campaign was overwhelmingly successful only for Grocery &amp; Staples, indicating the promotion failed to significantly lift sales across other product categories.</a:t>
            </a:r>
          </a:p>
        </p:txBody>
      </p:sp>
    </p:spTree>
    <p:extLst>
      <p:ext uri="{BB962C8B-B14F-4D97-AF65-F5344CB8AC3E}">
        <p14:creationId xmlns:p14="http://schemas.microsoft.com/office/powerpoint/2010/main" val="2142398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D5B6E59E-92A5-B581-1E9A-B68BD7021E1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A4586EF-3D12-CD52-060D-4D0EA925CB4C}"/>
              </a:ext>
            </a:extLst>
          </p:cNvPr>
          <p:cNvSpPr/>
          <p:nvPr/>
        </p:nvSpPr>
        <p:spPr>
          <a:xfrm>
            <a:off x="803986" y="803986"/>
            <a:ext cx="449429" cy="449429"/>
          </a:xfrm>
          <a:custGeom>
            <a:avLst/>
            <a:gdLst/>
            <a:ahLst/>
            <a:cxnLst/>
            <a:rect l="l" t="t" r="r" b="b"/>
            <a:pathLst>
              <a:path w="449429" h="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a:extLst>
              <a:ext uri="{FF2B5EF4-FFF2-40B4-BE49-F238E27FC236}">
                <a16:creationId xmlns:a16="http://schemas.microsoft.com/office/drawing/2014/main" id="{E9AD0C3E-D78D-AC79-68B7-73F5EB550E76}"/>
              </a:ext>
            </a:extLst>
          </p:cNvPr>
          <p:cNvSpPr txBox="1"/>
          <p:nvPr/>
        </p:nvSpPr>
        <p:spPr>
          <a:xfrm>
            <a:off x="1363845" y="768097"/>
            <a:ext cx="2685498" cy="409023"/>
          </a:xfrm>
          <a:prstGeom prst="rect">
            <a:avLst/>
          </a:prstGeom>
        </p:spPr>
        <p:txBody>
          <a:bodyPr lIns="0" tIns="0" rIns="0" bIns="0" rtlCol="0" anchor="t">
            <a:spAutoFit/>
          </a:bodyPr>
          <a:lstStyle/>
          <a:p>
            <a:pPr>
              <a:lnSpc>
                <a:spcPts val="3391"/>
              </a:lnSpc>
              <a:spcBef>
                <a:spcPct val="0"/>
              </a:spcBef>
            </a:pPr>
            <a:r>
              <a:rPr lang="en-US" sz="2422" b="1" spc="-109" dirty="0">
                <a:solidFill>
                  <a:srgbClr val="FFFFFF"/>
                </a:solidFill>
                <a:latin typeface="Telegraf Bold"/>
                <a:ea typeface="Telegraf Bold"/>
                <a:cs typeface="Telegraf Bold"/>
                <a:sym typeface="Telegraf Bold"/>
              </a:rPr>
              <a:t>Nova Mart</a:t>
            </a:r>
          </a:p>
        </p:txBody>
      </p:sp>
      <p:sp>
        <p:nvSpPr>
          <p:cNvPr id="4" name="TextBox 4">
            <a:extLst>
              <a:ext uri="{FF2B5EF4-FFF2-40B4-BE49-F238E27FC236}">
                <a16:creationId xmlns:a16="http://schemas.microsoft.com/office/drawing/2014/main" id="{9EC4620E-C525-4FA0-C95E-99C236E1ECDB}"/>
              </a:ext>
            </a:extLst>
          </p:cNvPr>
          <p:cNvSpPr txBox="1"/>
          <p:nvPr/>
        </p:nvSpPr>
        <p:spPr>
          <a:xfrm>
            <a:off x="9144000" y="841660"/>
            <a:ext cx="1662550"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Home</a:t>
            </a:r>
          </a:p>
        </p:txBody>
      </p:sp>
      <p:sp>
        <p:nvSpPr>
          <p:cNvPr id="5" name="TextBox 5">
            <a:extLst>
              <a:ext uri="{FF2B5EF4-FFF2-40B4-BE49-F238E27FC236}">
                <a16:creationId xmlns:a16="http://schemas.microsoft.com/office/drawing/2014/main" id="{22A628FE-4987-F88E-6688-6E71E36C0C5F}"/>
              </a:ext>
            </a:extLst>
          </p:cNvPr>
          <p:cNvSpPr txBox="1"/>
          <p:nvPr/>
        </p:nvSpPr>
        <p:spPr>
          <a:xfrm>
            <a:off x="11408122" y="843874"/>
            <a:ext cx="1907082" cy="409541"/>
          </a:xfrm>
          <a:prstGeom prst="rect">
            <a:avLst/>
          </a:prstGeom>
        </p:spPr>
        <p:txBody>
          <a:bodyPr lIns="0" tIns="0" rIns="0" bIns="0" rtlCol="0" anchor="t">
            <a:spAutoFit/>
          </a:bodyPr>
          <a:lstStyle/>
          <a:p>
            <a:pPr marL="0" lvl="0" indent="0" algn="ctr">
              <a:lnSpc>
                <a:spcPts val="3151"/>
              </a:lnSpc>
              <a:spcBef>
                <a:spcPct val="0"/>
              </a:spcBef>
            </a:pPr>
            <a:r>
              <a:rPr lang="en-US" sz="2251">
                <a:solidFill>
                  <a:srgbClr val="FFFFFF"/>
                </a:solidFill>
                <a:latin typeface="Poppins"/>
                <a:ea typeface="Poppins"/>
                <a:cs typeface="Poppins"/>
                <a:sym typeface="Poppins"/>
              </a:rPr>
              <a:t>About</a:t>
            </a:r>
          </a:p>
        </p:txBody>
      </p:sp>
      <p:sp>
        <p:nvSpPr>
          <p:cNvPr id="6" name="TextBox 6">
            <a:extLst>
              <a:ext uri="{FF2B5EF4-FFF2-40B4-BE49-F238E27FC236}">
                <a16:creationId xmlns:a16="http://schemas.microsoft.com/office/drawing/2014/main" id="{063C5971-84EA-7C5F-88B8-11EBD38FA5B1}"/>
              </a:ext>
            </a:extLst>
          </p:cNvPr>
          <p:cNvSpPr txBox="1"/>
          <p:nvPr/>
        </p:nvSpPr>
        <p:spPr>
          <a:xfrm>
            <a:off x="13726729" y="819695"/>
            <a:ext cx="1916881" cy="409541"/>
          </a:xfrm>
          <a:prstGeom prst="rect">
            <a:avLst/>
          </a:prstGeom>
        </p:spPr>
        <p:txBody>
          <a:bodyPr lIns="0" tIns="0" rIns="0" bIns="0" rtlCol="0" anchor="t">
            <a:spAutoFit/>
          </a:bodyPr>
          <a:lstStyle/>
          <a:p>
            <a:pPr marL="0" lvl="0" indent="0" algn="ctr">
              <a:lnSpc>
                <a:spcPts val="3151"/>
              </a:lnSpc>
              <a:spcBef>
                <a:spcPct val="0"/>
              </a:spcBef>
            </a:pPr>
            <a:r>
              <a:rPr lang="en-US" sz="2251" b="1">
                <a:solidFill>
                  <a:srgbClr val="FFFFFF"/>
                </a:solidFill>
                <a:latin typeface="Poppins Bold"/>
                <a:ea typeface="Poppins Bold"/>
                <a:cs typeface="Poppins Bold"/>
                <a:sym typeface="Poppins Bold"/>
              </a:rPr>
              <a:t>Content</a:t>
            </a:r>
          </a:p>
        </p:txBody>
      </p:sp>
      <p:sp>
        <p:nvSpPr>
          <p:cNvPr id="7" name="TextBox 7">
            <a:extLst>
              <a:ext uri="{FF2B5EF4-FFF2-40B4-BE49-F238E27FC236}">
                <a16:creationId xmlns:a16="http://schemas.microsoft.com/office/drawing/2014/main" id="{EB3EE313-56A0-0AB1-E75C-DE6C1671B9B0}"/>
              </a:ext>
            </a:extLst>
          </p:cNvPr>
          <p:cNvSpPr txBox="1"/>
          <p:nvPr/>
        </p:nvSpPr>
        <p:spPr>
          <a:xfrm>
            <a:off x="15034325" y="841660"/>
            <a:ext cx="2224975"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Others</a:t>
            </a:r>
          </a:p>
        </p:txBody>
      </p:sp>
      <p:grpSp>
        <p:nvGrpSpPr>
          <p:cNvPr id="8" name="Group 8">
            <a:extLst>
              <a:ext uri="{FF2B5EF4-FFF2-40B4-BE49-F238E27FC236}">
                <a16:creationId xmlns:a16="http://schemas.microsoft.com/office/drawing/2014/main" id="{C24C5650-F36C-E953-89A4-DCD505F9D6C7}"/>
              </a:ext>
            </a:extLst>
          </p:cNvPr>
          <p:cNvGrpSpPr/>
          <p:nvPr/>
        </p:nvGrpSpPr>
        <p:grpSpPr>
          <a:xfrm>
            <a:off x="803986" y="1851792"/>
            <a:ext cx="6657292" cy="5849788"/>
            <a:chOff x="0" y="0"/>
            <a:chExt cx="1659648" cy="1556868"/>
          </a:xfrm>
        </p:grpSpPr>
        <p:sp>
          <p:nvSpPr>
            <p:cNvPr id="9" name="Freeform 9">
              <a:extLst>
                <a:ext uri="{FF2B5EF4-FFF2-40B4-BE49-F238E27FC236}">
                  <a16:creationId xmlns:a16="http://schemas.microsoft.com/office/drawing/2014/main" id="{BF1BC741-21A3-DB16-2EA6-AC74DA7CF6B3}"/>
                </a:ext>
              </a:extLst>
            </p:cNvPr>
            <p:cNvSpPr/>
            <p:nvPr/>
          </p:nvSpPr>
          <p:spPr>
            <a:xfrm>
              <a:off x="0" y="0"/>
              <a:ext cx="1659648" cy="1556868"/>
            </a:xfrm>
            <a:custGeom>
              <a:avLst/>
              <a:gdLst/>
              <a:ahLst/>
              <a:cxnLst/>
              <a:rect l="l" t="t" r="r" b="b"/>
              <a:pathLst>
                <a:path w="1659648" h="1556868">
                  <a:moveTo>
                    <a:pt x="68801" y="0"/>
                  </a:moveTo>
                  <a:lnTo>
                    <a:pt x="1590847" y="0"/>
                  </a:lnTo>
                  <a:cubicBezTo>
                    <a:pt x="1609094" y="0"/>
                    <a:pt x="1626594" y="7249"/>
                    <a:pt x="1639497" y="20151"/>
                  </a:cubicBezTo>
                  <a:cubicBezTo>
                    <a:pt x="1652399" y="33054"/>
                    <a:pt x="1659648" y="50554"/>
                    <a:pt x="1659648" y="68801"/>
                  </a:cubicBezTo>
                  <a:lnTo>
                    <a:pt x="1659648" y="1488067"/>
                  </a:lnTo>
                  <a:cubicBezTo>
                    <a:pt x="1659648" y="1506314"/>
                    <a:pt x="1652399" y="1523814"/>
                    <a:pt x="1639497" y="1536717"/>
                  </a:cubicBezTo>
                  <a:cubicBezTo>
                    <a:pt x="1626594" y="1549620"/>
                    <a:pt x="1609094" y="1556868"/>
                    <a:pt x="1590847" y="1556868"/>
                  </a:cubicBezTo>
                  <a:lnTo>
                    <a:pt x="68801" y="1556868"/>
                  </a:lnTo>
                  <a:cubicBezTo>
                    <a:pt x="50554" y="1556868"/>
                    <a:pt x="33054" y="1549620"/>
                    <a:pt x="20151" y="1536717"/>
                  </a:cubicBezTo>
                  <a:cubicBezTo>
                    <a:pt x="7249" y="1523814"/>
                    <a:pt x="0" y="1506314"/>
                    <a:pt x="0" y="1488067"/>
                  </a:cubicBezTo>
                  <a:lnTo>
                    <a:pt x="0" y="68801"/>
                  </a:lnTo>
                  <a:cubicBezTo>
                    <a:pt x="0" y="50554"/>
                    <a:pt x="7249" y="33054"/>
                    <a:pt x="20151" y="20151"/>
                  </a:cubicBezTo>
                  <a:cubicBezTo>
                    <a:pt x="33054" y="7249"/>
                    <a:pt x="50554" y="0"/>
                    <a:pt x="68801" y="0"/>
                  </a:cubicBezTo>
                  <a:close/>
                </a:path>
              </a:pathLst>
            </a:custGeom>
            <a:gradFill rotWithShape="1">
              <a:gsLst>
                <a:gs pos="0">
                  <a:srgbClr val="000000">
                    <a:alpha val="78000"/>
                  </a:srgbClr>
                </a:gs>
                <a:gs pos="100000">
                  <a:srgbClr val="DDDDDD">
                    <a:alpha val="14820"/>
                  </a:srgbClr>
                </a:gs>
              </a:gsLst>
              <a:lin ang="2700000"/>
            </a:gradFill>
          </p:spPr>
        </p:sp>
        <p:sp>
          <p:nvSpPr>
            <p:cNvPr id="10" name="TextBox 10">
              <a:extLst>
                <a:ext uri="{FF2B5EF4-FFF2-40B4-BE49-F238E27FC236}">
                  <a16:creationId xmlns:a16="http://schemas.microsoft.com/office/drawing/2014/main" id="{EE546A6A-1173-6F79-6DFA-ABE8B2F1878E}"/>
                </a:ext>
              </a:extLst>
            </p:cNvPr>
            <p:cNvSpPr txBox="1"/>
            <p:nvPr/>
          </p:nvSpPr>
          <p:spPr>
            <a:xfrm>
              <a:off x="0" y="-66675"/>
              <a:ext cx="1659648" cy="1623543"/>
            </a:xfrm>
            <a:prstGeom prst="rect">
              <a:avLst/>
            </a:prstGeom>
          </p:spPr>
          <p:txBody>
            <a:bodyPr lIns="50800" tIns="50800" rIns="50800" bIns="50800" rtlCol="0" anchor="ctr"/>
            <a:lstStyle/>
            <a:p>
              <a:pPr algn="ctr">
                <a:lnSpc>
                  <a:spcPts val="3151"/>
                </a:lnSpc>
              </a:pPr>
              <a:endParaRPr/>
            </a:p>
          </p:txBody>
        </p:sp>
      </p:grpSp>
      <p:grpSp>
        <p:nvGrpSpPr>
          <p:cNvPr id="11" name="Group 11">
            <a:extLst>
              <a:ext uri="{FF2B5EF4-FFF2-40B4-BE49-F238E27FC236}">
                <a16:creationId xmlns:a16="http://schemas.microsoft.com/office/drawing/2014/main" id="{26443A06-F6F5-3479-0BE7-04B398327644}"/>
              </a:ext>
            </a:extLst>
          </p:cNvPr>
          <p:cNvGrpSpPr/>
          <p:nvPr/>
        </p:nvGrpSpPr>
        <p:grpSpPr>
          <a:xfrm>
            <a:off x="7703689" y="1851792"/>
            <a:ext cx="9783203" cy="5849788"/>
            <a:chOff x="0" y="0"/>
            <a:chExt cx="2576646" cy="1540685"/>
          </a:xfrm>
        </p:grpSpPr>
        <p:sp>
          <p:nvSpPr>
            <p:cNvPr id="12" name="Freeform 12">
              <a:extLst>
                <a:ext uri="{FF2B5EF4-FFF2-40B4-BE49-F238E27FC236}">
                  <a16:creationId xmlns:a16="http://schemas.microsoft.com/office/drawing/2014/main" id="{77BC82E8-E66E-B149-9624-3991AE9803F0}"/>
                </a:ext>
              </a:extLst>
            </p:cNvPr>
            <p:cNvSpPr/>
            <p:nvPr/>
          </p:nvSpPr>
          <p:spPr>
            <a:xfrm>
              <a:off x="0" y="0"/>
              <a:ext cx="2576646" cy="1540685"/>
            </a:xfrm>
            <a:custGeom>
              <a:avLst/>
              <a:gdLst/>
              <a:ahLst/>
              <a:cxnLst/>
              <a:rect l="l" t="t" r="r" b="b"/>
              <a:pathLst>
                <a:path w="2576646" h="1540685">
                  <a:moveTo>
                    <a:pt x="44315" y="0"/>
                  </a:moveTo>
                  <a:lnTo>
                    <a:pt x="2532331" y="0"/>
                  </a:lnTo>
                  <a:cubicBezTo>
                    <a:pt x="2556806" y="0"/>
                    <a:pt x="2576646" y="19841"/>
                    <a:pt x="2576646" y="44315"/>
                  </a:cubicBezTo>
                  <a:lnTo>
                    <a:pt x="2576646" y="1496370"/>
                  </a:lnTo>
                  <a:cubicBezTo>
                    <a:pt x="2576646" y="1508123"/>
                    <a:pt x="2571977" y="1519395"/>
                    <a:pt x="2563667" y="1527705"/>
                  </a:cubicBezTo>
                  <a:cubicBezTo>
                    <a:pt x="2555356" y="1536016"/>
                    <a:pt x="2544084" y="1540685"/>
                    <a:pt x="2532331" y="1540685"/>
                  </a:cubicBezTo>
                  <a:lnTo>
                    <a:pt x="44315" y="1540685"/>
                  </a:lnTo>
                  <a:cubicBezTo>
                    <a:pt x="32562" y="1540685"/>
                    <a:pt x="21290" y="1536016"/>
                    <a:pt x="12980" y="1527705"/>
                  </a:cubicBezTo>
                  <a:cubicBezTo>
                    <a:pt x="4669" y="1519395"/>
                    <a:pt x="0" y="1508123"/>
                    <a:pt x="0" y="1496370"/>
                  </a:cubicBezTo>
                  <a:lnTo>
                    <a:pt x="0" y="44315"/>
                  </a:lnTo>
                  <a:cubicBezTo>
                    <a:pt x="0" y="32562"/>
                    <a:pt x="4669" y="21290"/>
                    <a:pt x="12980" y="12980"/>
                  </a:cubicBezTo>
                  <a:cubicBezTo>
                    <a:pt x="21290" y="4669"/>
                    <a:pt x="32562" y="0"/>
                    <a:pt x="44315" y="0"/>
                  </a:cubicBezTo>
                  <a:close/>
                </a:path>
              </a:pathLst>
            </a:custGeom>
            <a:gradFill rotWithShape="1">
              <a:gsLst>
                <a:gs pos="0">
                  <a:srgbClr val="000F9B">
                    <a:alpha val="100000"/>
                  </a:srgbClr>
                </a:gs>
                <a:gs pos="50000">
                  <a:srgbClr val="EB0000">
                    <a:alpha val="100000"/>
                  </a:srgbClr>
                </a:gs>
                <a:gs pos="100000">
                  <a:srgbClr val="A000EB">
                    <a:alpha val="100000"/>
                  </a:srgbClr>
                </a:gs>
              </a:gsLst>
              <a:path path="circle">
                <a:fillToRect r="100000" b="100000"/>
              </a:path>
              <a:tileRect l="-100000" t="-100000"/>
            </a:gradFill>
          </p:spPr>
        </p:sp>
        <p:sp>
          <p:nvSpPr>
            <p:cNvPr id="13" name="TextBox 13">
              <a:extLst>
                <a:ext uri="{FF2B5EF4-FFF2-40B4-BE49-F238E27FC236}">
                  <a16:creationId xmlns:a16="http://schemas.microsoft.com/office/drawing/2014/main" id="{653F9D32-0183-4B5C-3756-C31B5ABC3E3C}"/>
                </a:ext>
              </a:extLst>
            </p:cNvPr>
            <p:cNvSpPr txBox="1"/>
            <p:nvPr/>
          </p:nvSpPr>
          <p:spPr>
            <a:xfrm>
              <a:off x="0" y="-66675"/>
              <a:ext cx="2576646" cy="1607360"/>
            </a:xfrm>
            <a:prstGeom prst="rect">
              <a:avLst/>
            </a:prstGeom>
          </p:spPr>
          <p:txBody>
            <a:bodyPr lIns="50800" tIns="50800" rIns="50800" bIns="50800" rtlCol="0" anchor="ctr"/>
            <a:lstStyle/>
            <a:p>
              <a:pPr algn="ctr">
                <a:lnSpc>
                  <a:spcPts val="3151"/>
                </a:lnSpc>
              </a:pPr>
              <a:endParaRPr/>
            </a:p>
          </p:txBody>
        </p:sp>
      </p:grpSp>
      <p:grpSp>
        <p:nvGrpSpPr>
          <p:cNvPr id="14" name="Group 14">
            <a:extLst>
              <a:ext uri="{FF2B5EF4-FFF2-40B4-BE49-F238E27FC236}">
                <a16:creationId xmlns:a16="http://schemas.microsoft.com/office/drawing/2014/main" id="{C6D5D2E7-6179-997B-D07B-EEC365017E8E}"/>
              </a:ext>
            </a:extLst>
          </p:cNvPr>
          <p:cNvGrpSpPr/>
          <p:nvPr/>
        </p:nvGrpSpPr>
        <p:grpSpPr>
          <a:xfrm>
            <a:off x="803986" y="8293197"/>
            <a:ext cx="16682906" cy="1233630"/>
            <a:chOff x="0" y="0"/>
            <a:chExt cx="4393852" cy="324907"/>
          </a:xfrm>
        </p:grpSpPr>
        <p:sp>
          <p:nvSpPr>
            <p:cNvPr id="15" name="Freeform 15">
              <a:extLst>
                <a:ext uri="{FF2B5EF4-FFF2-40B4-BE49-F238E27FC236}">
                  <a16:creationId xmlns:a16="http://schemas.microsoft.com/office/drawing/2014/main" id="{E36ADA60-3E8B-3EC1-E348-1A0EE197FE10}"/>
                </a:ext>
              </a:extLst>
            </p:cNvPr>
            <p:cNvSpPr/>
            <p:nvPr/>
          </p:nvSpPr>
          <p:spPr>
            <a:xfrm>
              <a:off x="0" y="0"/>
              <a:ext cx="4393852" cy="324907"/>
            </a:xfrm>
            <a:custGeom>
              <a:avLst/>
              <a:gdLst/>
              <a:ahLst/>
              <a:cxnLst/>
              <a:rect l="l" t="t" r="r" b="b"/>
              <a:pathLst>
                <a:path w="4393852" h="324907">
                  <a:moveTo>
                    <a:pt x="21811" y="0"/>
                  </a:moveTo>
                  <a:lnTo>
                    <a:pt x="4372041" y="0"/>
                  </a:lnTo>
                  <a:cubicBezTo>
                    <a:pt x="4384087" y="0"/>
                    <a:pt x="4393852" y="9765"/>
                    <a:pt x="4393852" y="21811"/>
                  </a:cubicBezTo>
                  <a:lnTo>
                    <a:pt x="4393852" y="303096"/>
                  </a:lnTo>
                  <a:cubicBezTo>
                    <a:pt x="4393852" y="315142"/>
                    <a:pt x="4384087" y="324907"/>
                    <a:pt x="4372041" y="324907"/>
                  </a:cubicBezTo>
                  <a:lnTo>
                    <a:pt x="21811" y="324907"/>
                  </a:lnTo>
                  <a:cubicBezTo>
                    <a:pt x="9765" y="324907"/>
                    <a:pt x="0" y="315142"/>
                    <a:pt x="0" y="303096"/>
                  </a:cubicBezTo>
                  <a:lnTo>
                    <a:pt x="0" y="21811"/>
                  </a:lnTo>
                  <a:cubicBezTo>
                    <a:pt x="0" y="9765"/>
                    <a:pt x="9765" y="0"/>
                    <a:pt x="21811" y="0"/>
                  </a:cubicBezTo>
                  <a:close/>
                </a:path>
              </a:pathLst>
            </a:custGeom>
            <a:solidFill>
              <a:srgbClr val="000000">
                <a:alpha val="0"/>
              </a:srgbClr>
            </a:solidFill>
            <a:ln w="28575" cap="rnd">
              <a:solidFill>
                <a:srgbClr val="FFFFFF"/>
              </a:solidFill>
              <a:prstDash val="solid"/>
              <a:round/>
            </a:ln>
          </p:spPr>
        </p:sp>
        <p:sp>
          <p:nvSpPr>
            <p:cNvPr id="16" name="TextBox 16">
              <a:extLst>
                <a:ext uri="{FF2B5EF4-FFF2-40B4-BE49-F238E27FC236}">
                  <a16:creationId xmlns:a16="http://schemas.microsoft.com/office/drawing/2014/main" id="{B8329EC1-4120-98E9-BB80-538EFAAC44AD}"/>
                </a:ext>
              </a:extLst>
            </p:cNvPr>
            <p:cNvSpPr txBox="1"/>
            <p:nvPr/>
          </p:nvSpPr>
          <p:spPr>
            <a:xfrm>
              <a:off x="0" y="-66675"/>
              <a:ext cx="4393852" cy="391582"/>
            </a:xfrm>
            <a:prstGeom prst="rect">
              <a:avLst/>
            </a:prstGeom>
          </p:spPr>
          <p:txBody>
            <a:bodyPr lIns="50800" tIns="50800" rIns="50800" bIns="50800" rtlCol="0" anchor="ctr"/>
            <a:lstStyle/>
            <a:p>
              <a:pPr algn="ctr">
                <a:lnSpc>
                  <a:spcPts val="3151"/>
                </a:lnSpc>
              </a:pPr>
              <a:endParaRPr/>
            </a:p>
          </p:txBody>
        </p:sp>
      </p:grpSp>
      <p:sp>
        <p:nvSpPr>
          <p:cNvPr id="22" name="TextBox 21">
            <a:extLst>
              <a:ext uri="{FF2B5EF4-FFF2-40B4-BE49-F238E27FC236}">
                <a16:creationId xmlns:a16="http://schemas.microsoft.com/office/drawing/2014/main" id="{7F4B650D-7E43-69B2-397A-99D4C9BCAB5E}"/>
              </a:ext>
            </a:extLst>
          </p:cNvPr>
          <p:cNvSpPr txBox="1"/>
          <p:nvPr/>
        </p:nvSpPr>
        <p:spPr>
          <a:xfrm>
            <a:off x="8404919" y="2514528"/>
            <a:ext cx="8380741" cy="4524315"/>
          </a:xfrm>
          <a:prstGeom prst="rect">
            <a:avLst/>
          </a:prstGeom>
          <a:noFill/>
        </p:spPr>
        <p:txBody>
          <a:bodyPr wrap="square" rtlCol="0">
            <a:spAutoFit/>
          </a:bodyPr>
          <a:lstStyle/>
          <a:p>
            <a:r>
              <a:rPr lang="en-US" b="1" dirty="0">
                <a:solidFill>
                  <a:schemeClr val="bg1"/>
                </a:solidFill>
              </a:rPr>
              <a:t>Key Insights</a:t>
            </a: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Weak Positive Correlation:</a:t>
            </a:r>
            <a:r>
              <a:rPr lang="en-US" dirty="0">
                <a:solidFill>
                  <a:schemeClr val="bg1"/>
                </a:solidFill>
              </a:rPr>
              <a:t> The correlation between the final price and the quantity sold is weakly positive (+0.27).</a:t>
            </a:r>
          </a:p>
          <a:p>
            <a:pPr marL="285750" indent="-285750">
              <a:buFont typeface="Arial" panose="020B0604020202020204" pitchFamily="34" charset="0"/>
              <a:buChar char="•"/>
            </a:pPr>
            <a:r>
              <a:rPr lang="en-US" b="1" dirty="0">
                <a:solidFill>
                  <a:schemeClr val="bg1"/>
                </a:solidFill>
              </a:rPr>
              <a:t>Unexpected Relationship:</a:t>
            </a:r>
            <a:r>
              <a:rPr lang="en-US" dirty="0">
                <a:solidFill>
                  <a:schemeClr val="bg1"/>
                </a:solidFill>
              </a:rPr>
              <a:t> Typically, price and quantity sold have a negative correlation (as price increases, quantity sold decreases). The positive result suggests an inelastic, status-driven, or bulk purchase pattern.</a:t>
            </a:r>
          </a:p>
          <a:p>
            <a:pPr marL="285750" indent="-285750">
              <a:buFont typeface="Arial" panose="020B0604020202020204" pitchFamily="34" charset="0"/>
              <a:buChar char="•"/>
            </a:pPr>
            <a:r>
              <a:rPr lang="en-US" b="1" dirty="0">
                <a:solidFill>
                  <a:schemeClr val="bg1"/>
                </a:solidFill>
              </a:rPr>
              <a:t>Low Predictive Power:</a:t>
            </a:r>
            <a:r>
              <a:rPr lang="en-US" dirty="0">
                <a:solidFill>
                  <a:schemeClr val="bg1"/>
                </a:solidFill>
              </a:rPr>
              <a:t> Since the correlation is close to zero, the base price after the promotion is not a strong predictor of the final quantity sold.</a:t>
            </a:r>
          </a:p>
          <a:p>
            <a:pPr marL="285750" indent="-285750">
              <a:buFont typeface="Arial" panose="020B0604020202020204" pitchFamily="34" charset="0"/>
              <a:buChar char="•"/>
            </a:pPr>
            <a:endParaRPr lang="en-US" dirty="0">
              <a:solidFill>
                <a:schemeClr val="bg1"/>
              </a:solidFill>
            </a:endParaRPr>
          </a:p>
          <a:p>
            <a:r>
              <a:rPr lang="en-US" b="1" dirty="0">
                <a:solidFill>
                  <a:schemeClr val="bg1"/>
                </a:solidFill>
              </a:rPr>
              <a:t>Recommendations</a:t>
            </a: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Investigate Correlation Drivers:</a:t>
            </a:r>
            <a:r>
              <a:rPr lang="en-US" dirty="0">
                <a:solidFill>
                  <a:schemeClr val="bg1"/>
                </a:solidFill>
              </a:rPr>
              <a:t> Deep dive into specific product segments to understand why higher prices are weakly correlated with higher sales (e.g., luxury segment, large commercial orders).</a:t>
            </a:r>
          </a:p>
          <a:p>
            <a:pPr marL="285750" indent="-285750">
              <a:buFont typeface="Arial" panose="020B0604020202020204" pitchFamily="34" charset="0"/>
              <a:buChar char="•"/>
            </a:pPr>
            <a:r>
              <a:rPr lang="en-US" b="1" dirty="0">
                <a:solidFill>
                  <a:schemeClr val="bg1"/>
                </a:solidFill>
              </a:rPr>
              <a:t>Focus on Non-Price Factors:</a:t>
            </a:r>
            <a:r>
              <a:rPr lang="en-US" dirty="0">
                <a:solidFill>
                  <a:schemeClr val="bg1"/>
                </a:solidFill>
              </a:rPr>
              <a:t> Shift sales strategy focus toward non-price drivers like marketing spend, visibility, and product placement, as price is not a primary constraint.</a:t>
            </a:r>
          </a:p>
        </p:txBody>
      </p:sp>
      <p:pic>
        <p:nvPicPr>
          <p:cNvPr id="24" name="Picture 23">
            <a:extLst>
              <a:ext uri="{FF2B5EF4-FFF2-40B4-BE49-F238E27FC236}">
                <a16:creationId xmlns:a16="http://schemas.microsoft.com/office/drawing/2014/main" id="{5AE87BFB-B9EE-8F76-057B-2E1E72F6C9A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53414" y="3647302"/>
            <a:ext cx="5691955" cy="3782198"/>
          </a:xfrm>
          <a:prstGeom prst="rect">
            <a:avLst/>
          </a:prstGeom>
        </p:spPr>
      </p:pic>
      <p:sp>
        <p:nvSpPr>
          <p:cNvPr id="25" name="TextBox 24">
            <a:extLst>
              <a:ext uri="{FF2B5EF4-FFF2-40B4-BE49-F238E27FC236}">
                <a16:creationId xmlns:a16="http://schemas.microsoft.com/office/drawing/2014/main" id="{AC73FC0E-B5E3-77B6-B51C-F5616BC8749B}"/>
              </a:ext>
            </a:extLst>
          </p:cNvPr>
          <p:cNvSpPr txBox="1"/>
          <p:nvPr/>
        </p:nvSpPr>
        <p:spPr>
          <a:xfrm>
            <a:off x="1153316" y="2010883"/>
            <a:ext cx="5792054" cy="1477328"/>
          </a:xfrm>
          <a:prstGeom prst="rect">
            <a:avLst/>
          </a:prstGeom>
          <a:noFill/>
        </p:spPr>
        <p:txBody>
          <a:bodyPr wrap="square" rtlCol="0">
            <a:spAutoFit/>
          </a:bodyPr>
          <a:lstStyle/>
          <a:p>
            <a:r>
              <a:rPr lang="en-US" dirty="0">
                <a:solidFill>
                  <a:schemeClr val="bg1"/>
                </a:solidFill>
              </a:rPr>
              <a:t>3. Examine the correlation between base price (after the promotion) and sales quantities (after the promotion). What insights can be drawn regarding the relationship between base price and sales quantities after the promotion?</a:t>
            </a:r>
            <a:endParaRPr lang="en-IN" dirty="0">
              <a:solidFill>
                <a:schemeClr val="bg1"/>
              </a:solidFill>
            </a:endParaRPr>
          </a:p>
        </p:txBody>
      </p:sp>
      <p:sp>
        <p:nvSpPr>
          <p:cNvPr id="26" name="TextBox 25">
            <a:extLst>
              <a:ext uri="{FF2B5EF4-FFF2-40B4-BE49-F238E27FC236}">
                <a16:creationId xmlns:a16="http://schemas.microsoft.com/office/drawing/2014/main" id="{4E36C4E5-B0D2-CB5D-E3B1-7AB6F69D10A4}"/>
              </a:ext>
            </a:extLst>
          </p:cNvPr>
          <p:cNvSpPr txBox="1"/>
          <p:nvPr/>
        </p:nvSpPr>
        <p:spPr>
          <a:xfrm>
            <a:off x="1153316" y="8494513"/>
            <a:ext cx="15963900" cy="830997"/>
          </a:xfrm>
          <a:prstGeom prst="rect">
            <a:avLst/>
          </a:prstGeom>
          <a:noFill/>
        </p:spPr>
        <p:txBody>
          <a:bodyPr wrap="square" rtlCol="0">
            <a:spAutoFit/>
          </a:bodyPr>
          <a:lstStyle/>
          <a:p>
            <a:r>
              <a:rPr lang="en-US" sz="2400" b="1" dirty="0">
                <a:solidFill>
                  <a:schemeClr val="bg1"/>
                </a:solidFill>
              </a:rPr>
              <a:t>Conclusion: </a:t>
            </a:r>
            <a:r>
              <a:rPr lang="en-US" sz="2400" dirty="0">
                <a:solidFill>
                  <a:schemeClr val="bg1"/>
                </a:solidFill>
              </a:rPr>
              <a:t>The promotional base price has a weak, unexpected positive relationship with quantity sold, indicating that price is not the dominant factor influencing customer purchase decisions.</a:t>
            </a:r>
          </a:p>
        </p:txBody>
      </p:sp>
    </p:spTree>
    <p:extLst>
      <p:ext uri="{BB962C8B-B14F-4D97-AF65-F5344CB8AC3E}">
        <p14:creationId xmlns:p14="http://schemas.microsoft.com/office/powerpoint/2010/main" val="2659874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5217766A-E96C-FD25-5180-E2861147341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0374C40-AE8E-9A4F-0ECD-23BF33C1723C}"/>
              </a:ext>
            </a:extLst>
          </p:cNvPr>
          <p:cNvSpPr/>
          <p:nvPr/>
        </p:nvSpPr>
        <p:spPr>
          <a:xfrm>
            <a:off x="803986" y="803986"/>
            <a:ext cx="449429" cy="449429"/>
          </a:xfrm>
          <a:custGeom>
            <a:avLst/>
            <a:gdLst/>
            <a:ahLst/>
            <a:cxnLst/>
            <a:rect l="l" t="t" r="r" b="b"/>
            <a:pathLst>
              <a:path w="449429" h="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a:extLst>
              <a:ext uri="{FF2B5EF4-FFF2-40B4-BE49-F238E27FC236}">
                <a16:creationId xmlns:a16="http://schemas.microsoft.com/office/drawing/2014/main" id="{E4273C6D-474A-17BB-9DDF-6DA2CB645F18}"/>
              </a:ext>
            </a:extLst>
          </p:cNvPr>
          <p:cNvSpPr txBox="1"/>
          <p:nvPr/>
        </p:nvSpPr>
        <p:spPr>
          <a:xfrm>
            <a:off x="1363845" y="768097"/>
            <a:ext cx="2685498" cy="409023"/>
          </a:xfrm>
          <a:prstGeom prst="rect">
            <a:avLst/>
          </a:prstGeom>
        </p:spPr>
        <p:txBody>
          <a:bodyPr lIns="0" tIns="0" rIns="0" bIns="0" rtlCol="0" anchor="t">
            <a:spAutoFit/>
          </a:bodyPr>
          <a:lstStyle/>
          <a:p>
            <a:pPr>
              <a:lnSpc>
                <a:spcPts val="3391"/>
              </a:lnSpc>
              <a:spcBef>
                <a:spcPct val="0"/>
              </a:spcBef>
            </a:pPr>
            <a:r>
              <a:rPr lang="en-US" sz="2422" b="1" spc="-109" dirty="0">
                <a:solidFill>
                  <a:srgbClr val="FFFFFF"/>
                </a:solidFill>
                <a:latin typeface="Telegraf Bold"/>
                <a:ea typeface="Telegraf Bold"/>
                <a:cs typeface="Telegraf Bold"/>
                <a:sym typeface="Telegraf Bold"/>
              </a:rPr>
              <a:t>Nova Mart</a:t>
            </a:r>
          </a:p>
        </p:txBody>
      </p:sp>
      <p:sp>
        <p:nvSpPr>
          <p:cNvPr id="4" name="TextBox 4">
            <a:extLst>
              <a:ext uri="{FF2B5EF4-FFF2-40B4-BE49-F238E27FC236}">
                <a16:creationId xmlns:a16="http://schemas.microsoft.com/office/drawing/2014/main" id="{DCA3B48D-E7AA-825E-EE92-865CFAF997B9}"/>
              </a:ext>
            </a:extLst>
          </p:cNvPr>
          <p:cNvSpPr txBox="1"/>
          <p:nvPr/>
        </p:nvSpPr>
        <p:spPr>
          <a:xfrm>
            <a:off x="9144000" y="841660"/>
            <a:ext cx="1662550"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Home</a:t>
            </a:r>
          </a:p>
        </p:txBody>
      </p:sp>
      <p:sp>
        <p:nvSpPr>
          <p:cNvPr id="5" name="TextBox 5">
            <a:extLst>
              <a:ext uri="{FF2B5EF4-FFF2-40B4-BE49-F238E27FC236}">
                <a16:creationId xmlns:a16="http://schemas.microsoft.com/office/drawing/2014/main" id="{BD934CCD-53EC-C877-283D-42AE2A944328}"/>
              </a:ext>
            </a:extLst>
          </p:cNvPr>
          <p:cNvSpPr txBox="1"/>
          <p:nvPr/>
        </p:nvSpPr>
        <p:spPr>
          <a:xfrm>
            <a:off x="11408122" y="843874"/>
            <a:ext cx="1907082" cy="409541"/>
          </a:xfrm>
          <a:prstGeom prst="rect">
            <a:avLst/>
          </a:prstGeom>
        </p:spPr>
        <p:txBody>
          <a:bodyPr lIns="0" tIns="0" rIns="0" bIns="0" rtlCol="0" anchor="t">
            <a:spAutoFit/>
          </a:bodyPr>
          <a:lstStyle/>
          <a:p>
            <a:pPr marL="0" lvl="0" indent="0" algn="ctr">
              <a:lnSpc>
                <a:spcPts val="3151"/>
              </a:lnSpc>
              <a:spcBef>
                <a:spcPct val="0"/>
              </a:spcBef>
            </a:pPr>
            <a:r>
              <a:rPr lang="en-US" sz="2251">
                <a:solidFill>
                  <a:srgbClr val="FFFFFF"/>
                </a:solidFill>
                <a:latin typeface="Poppins"/>
                <a:ea typeface="Poppins"/>
                <a:cs typeface="Poppins"/>
                <a:sym typeface="Poppins"/>
              </a:rPr>
              <a:t>About</a:t>
            </a:r>
          </a:p>
        </p:txBody>
      </p:sp>
      <p:sp>
        <p:nvSpPr>
          <p:cNvPr id="6" name="TextBox 6">
            <a:extLst>
              <a:ext uri="{FF2B5EF4-FFF2-40B4-BE49-F238E27FC236}">
                <a16:creationId xmlns:a16="http://schemas.microsoft.com/office/drawing/2014/main" id="{94BA9305-3D1F-A5B0-DD11-6DFDCC90C31D}"/>
              </a:ext>
            </a:extLst>
          </p:cNvPr>
          <p:cNvSpPr txBox="1"/>
          <p:nvPr/>
        </p:nvSpPr>
        <p:spPr>
          <a:xfrm>
            <a:off x="13726729" y="819695"/>
            <a:ext cx="1916881" cy="409541"/>
          </a:xfrm>
          <a:prstGeom prst="rect">
            <a:avLst/>
          </a:prstGeom>
        </p:spPr>
        <p:txBody>
          <a:bodyPr lIns="0" tIns="0" rIns="0" bIns="0" rtlCol="0" anchor="t">
            <a:spAutoFit/>
          </a:bodyPr>
          <a:lstStyle/>
          <a:p>
            <a:pPr marL="0" lvl="0" indent="0" algn="ctr">
              <a:lnSpc>
                <a:spcPts val="3151"/>
              </a:lnSpc>
              <a:spcBef>
                <a:spcPct val="0"/>
              </a:spcBef>
            </a:pPr>
            <a:r>
              <a:rPr lang="en-US" sz="2251" b="1">
                <a:solidFill>
                  <a:srgbClr val="FFFFFF"/>
                </a:solidFill>
                <a:latin typeface="Poppins Bold"/>
                <a:ea typeface="Poppins Bold"/>
                <a:cs typeface="Poppins Bold"/>
                <a:sym typeface="Poppins Bold"/>
              </a:rPr>
              <a:t>Content</a:t>
            </a:r>
          </a:p>
        </p:txBody>
      </p:sp>
      <p:sp>
        <p:nvSpPr>
          <p:cNvPr id="7" name="TextBox 7">
            <a:extLst>
              <a:ext uri="{FF2B5EF4-FFF2-40B4-BE49-F238E27FC236}">
                <a16:creationId xmlns:a16="http://schemas.microsoft.com/office/drawing/2014/main" id="{DA77D9AE-891B-D02B-9565-67409B523EE2}"/>
              </a:ext>
            </a:extLst>
          </p:cNvPr>
          <p:cNvSpPr txBox="1"/>
          <p:nvPr/>
        </p:nvSpPr>
        <p:spPr>
          <a:xfrm>
            <a:off x="15034325" y="841660"/>
            <a:ext cx="2224975"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Others</a:t>
            </a:r>
          </a:p>
        </p:txBody>
      </p:sp>
      <p:grpSp>
        <p:nvGrpSpPr>
          <p:cNvPr id="8" name="Group 8">
            <a:extLst>
              <a:ext uri="{FF2B5EF4-FFF2-40B4-BE49-F238E27FC236}">
                <a16:creationId xmlns:a16="http://schemas.microsoft.com/office/drawing/2014/main" id="{7F856F70-FC19-69A2-2BFE-A96E45794788}"/>
              </a:ext>
            </a:extLst>
          </p:cNvPr>
          <p:cNvGrpSpPr/>
          <p:nvPr/>
        </p:nvGrpSpPr>
        <p:grpSpPr>
          <a:xfrm>
            <a:off x="803986" y="1851792"/>
            <a:ext cx="6657292" cy="5849788"/>
            <a:chOff x="0" y="0"/>
            <a:chExt cx="1659648" cy="1556868"/>
          </a:xfrm>
        </p:grpSpPr>
        <p:sp>
          <p:nvSpPr>
            <p:cNvPr id="9" name="Freeform 9">
              <a:extLst>
                <a:ext uri="{FF2B5EF4-FFF2-40B4-BE49-F238E27FC236}">
                  <a16:creationId xmlns:a16="http://schemas.microsoft.com/office/drawing/2014/main" id="{D6FDF6AA-5479-71E7-1D6D-02CA0181DF0B}"/>
                </a:ext>
              </a:extLst>
            </p:cNvPr>
            <p:cNvSpPr/>
            <p:nvPr/>
          </p:nvSpPr>
          <p:spPr>
            <a:xfrm>
              <a:off x="0" y="0"/>
              <a:ext cx="1659648" cy="1556868"/>
            </a:xfrm>
            <a:custGeom>
              <a:avLst/>
              <a:gdLst/>
              <a:ahLst/>
              <a:cxnLst/>
              <a:rect l="l" t="t" r="r" b="b"/>
              <a:pathLst>
                <a:path w="1659648" h="1556868">
                  <a:moveTo>
                    <a:pt x="68801" y="0"/>
                  </a:moveTo>
                  <a:lnTo>
                    <a:pt x="1590847" y="0"/>
                  </a:lnTo>
                  <a:cubicBezTo>
                    <a:pt x="1609094" y="0"/>
                    <a:pt x="1626594" y="7249"/>
                    <a:pt x="1639497" y="20151"/>
                  </a:cubicBezTo>
                  <a:cubicBezTo>
                    <a:pt x="1652399" y="33054"/>
                    <a:pt x="1659648" y="50554"/>
                    <a:pt x="1659648" y="68801"/>
                  </a:cubicBezTo>
                  <a:lnTo>
                    <a:pt x="1659648" y="1488067"/>
                  </a:lnTo>
                  <a:cubicBezTo>
                    <a:pt x="1659648" y="1506314"/>
                    <a:pt x="1652399" y="1523814"/>
                    <a:pt x="1639497" y="1536717"/>
                  </a:cubicBezTo>
                  <a:cubicBezTo>
                    <a:pt x="1626594" y="1549620"/>
                    <a:pt x="1609094" y="1556868"/>
                    <a:pt x="1590847" y="1556868"/>
                  </a:cubicBezTo>
                  <a:lnTo>
                    <a:pt x="68801" y="1556868"/>
                  </a:lnTo>
                  <a:cubicBezTo>
                    <a:pt x="50554" y="1556868"/>
                    <a:pt x="33054" y="1549620"/>
                    <a:pt x="20151" y="1536717"/>
                  </a:cubicBezTo>
                  <a:cubicBezTo>
                    <a:pt x="7249" y="1523814"/>
                    <a:pt x="0" y="1506314"/>
                    <a:pt x="0" y="1488067"/>
                  </a:cubicBezTo>
                  <a:lnTo>
                    <a:pt x="0" y="68801"/>
                  </a:lnTo>
                  <a:cubicBezTo>
                    <a:pt x="0" y="50554"/>
                    <a:pt x="7249" y="33054"/>
                    <a:pt x="20151" y="20151"/>
                  </a:cubicBezTo>
                  <a:cubicBezTo>
                    <a:pt x="33054" y="7249"/>
                    <a:pt x="50554" y="0"/>
                    <a:pt x="68801" y="0"/>
                  </a:cubicBezTo>
                  <a:close/>
                </a:path>
              </a:pathLst>
            </a:custGeom>
            <a:gradFill rotWithShape="1">
              <a:gsLst>
                <a:gs pos="0">
                  <a:srgbClr val="000000">
                    <a:alpha val="78000"/>
                  </a:srgbClr>
                </a:gs>
                <a:gs pos="100000">
                  <a:srgbClr val="DDDDDD">
                    <a:alpha val="14820"/>
                  </a:srgbClr>
                </a:gs>
              </a:gsLst>
              <a:lin ang="2700000"/>
            </a:gradFill>
          </p:spPr>
        </p:sp>
        <p:sp>
          <p:nvSpPr>
            <p:cNvPr id="10" name="TextBox 10">
              <a:extLst>
                <a:ext uri="{FF2B5EF4-FFF2-40B4-BE49-F238E27FC236}">
                  <a16:creationId xmlns:a16="http://schemas.microsoft.com/office/drawing/2014/main" id="{7250A7E7-5149-5ED5-77B8-17E366BEB536}"/>
                </a:ext>
              </a:extLst>
            </p:cNvPr>
            <p:cNvSpPr txBox="1"/>
            <p:nvPr/>
          </p:nvSpPr>
          <p:spPr>
            <a:xfrm>
              <a:off x="0" y="-66675"/>
              <a:ext cx="1659648" cy="1623543"/>
            </a:xfrm>
            <a:prstGeom prst="rect">
              <a:avLst/>
            </a:prstGeom>
          </p:spPr>
          <p:txBody>
            <a:bodyPr lIns="50800" tIns="50800" rIns="50800" bIns="50800" rtlCol="0" anchor="ctr"/>
            <a:lstStyle/>
            <a:p>
              <a:pPr algn="ctr">
                <a:lnSpc>
                  <a:spcPts val="3151"/>
                </a:lnSpc>
              </a:pPr>
              <a:endParaRPr/>
            </a:p>
          </p:txBody>
        </p:sp>
      </p:grpSp>
      <p:grpSp>
        <p:nvGrpSpPr>
          <p:cNvPr id="11" name="Group 11">
            <a:extLst>
              <a:ext uri="{FF2B5EF4-FFF2-40B4-BE49-F238E27FC236}">
                <a16:creationId xmlns:a16="http://schemas.microsoft.com/office/drawing/2014/main" id="{10F21D31-5231-B6A2-E4C0-786C05B68DBD}"/>
              </a:ext>
            </a:extLst>
          </p:cNvPr>
          <p:cNvGrpSpPr/>
          <p:nvPr/>
        </p:nvGrpSpPr>
        <p:grpSpPr>
          <a:xfrm>
            <a:off x="7703689" y="1851792"/>
            <a:ext cx="9783203" cy="5849788"/>
            <a:chOff x="0" y="0"/>
            <a:chExt cx="2576646" cy="1540685"/>
          </a:xfrm>
        </p:grpSpPr>
        <p:sp>
          <p:nvSpPr>
            <p:cNvPr id="12" name="Freeform 12">
              <a:extLst>
                <a:ext uri="{FF2B5EF4-FFF2-40B4-BE49-F238E27FC236}">
                  <a16:creationId xmlns:a16="http://schemas.microsoft.com/office/drawing/2014/main" id="{B1D6E0F1-38F3-2F77-E3BC-614196AEF993}"/>
                </a:ext>
              </a:extLst>
            </p:cNvPr>
            <p:cNvSpPr/>
            <p:nvPr/>
          </p:nvSpPr>
          <p:spPr>
            <a:xfrm>
              <a:off x="0" y="0"/>
              <a:ext cx="2576646" cy="1540685"/>
            </a:xfrm>
            <a:custGeom>
              <a:avLst/>
              <a:gdLst/>
              <a:ahLst/>
              <a:cxnLst/>
              <a:rect l="l" t="t" r="r" b="b"/>
              <a:pathLst>
                <a:path w="2576646" h="1540685">
                  <a:moveTo>
                    <a:pt x="44315" y="0"/>
                  </a:moveTo>
                  <a:lnTo>
                    <a:pt x="2532331" y="0"/>
                  </a:lnTo>
                  <a:cubicBezTo>
                    <a:pt x="2556806" y="0"/>
                    <a:pt x="2576646" y="19841"/>
                    <a:pt x="2576646" y="44315"/>
                  </a:cubicBezTo>
                  <a:lnTo>
                    <a:pt x="2576646" y="1496370"/>
                  </a:lnTo>
                  <a:cubicBezTo>
                    <a:pt x="2576646" y="1508123"/>
                    <a:pt x="2571977" y="1519395"/>
                    <a:pt x="2563667" y="1527705"/>
                  </a:cubicBezTo>
                  <a:cubicBezTo>
                    <a:pt x="2555356" y="1536016"/>
                    <a:pt x="2544084" y="1540685"/>
                    <a:pt x="2532331" y="1540685"/>
                  </a:cubicBezTo>
                  <a:lnTo>
                    <a:pt x="44315" y="1540685"/>
                  </a:lnTo>
                  <a:cubicBezTo>
                    <a:pt x="32562" y="1540685"/>
                    <a:pt x="21290" y="1536016"/>
                    <a:pt x="12980" y="1527705"/>
                  </a:cubicBezTo>
                  <a:cubicBezTo>
                    <a:pt x="4669" y="1519395"/>
                    <a:pt x="0" y="1508123"/>
                    <a:pt x="0" y="1496370"/>
                  </a:cubicBezTo>
                  <a:lnTo>
                    <a:pt x="0" y="44315"/>
                  </a:lnTo>
                  <a:cubicBezTo>
                    <a:pt x="0" y="32562"/>
                    <a:pt x="4669" y="21290"/>
                    <a:pt x="12980" y="12980"/>
                  </a:cubicBezTo>
                  <a:cubicBezTo>
                    <a:pt x="21290" y="4669"/>
                    <a:pt x="32562" y="0"/>
                    <a:pt x="44315" y="0"/>
                  </a:cubicBezTo>
                  <a:close/>
                </a:path>
              </a:pathLst>
            </a:custGeom>
            <a:gradFill rotWithShape="1">
              <a:gsLst>
                <a:gs pos="0">
                  <a:srgbClr val="000F9B">
                    <a:alpha val="100000"/>
                  </a:srgbClr>
                </a:gs>
                <a:gs pos="50000">
                  <a:srgbClr val="EB0000">
                    <a:alpha val="100000"/>
                  </a:srgbClr>
                </a:gs>
                <a:gs pos="100000">
                  <a:srgbClr val="A000EB">
                    <a:alpha val="100000"/>
                  </a:srgbClr>
                </a:gs>
              </a:gsLst>
              <a:path path="circle">
                <a:fillToRect r="100000" b="100000"/>
              </a:path>
              <a:tileRect l="-100000" t="-100000"/>
            </a:gradFill>
          </p:spPr>
        </p:sp>
        <p:sp>
          <p:nvSpPr>
            <p:cNvPr id="13" name="TextBox 13">
              <a:extLst>
                <a:ext uri="{FF2B5EF4-FFF2-40B4-BE49-F238E27FC236}">
                  <a16:creationId xmlns:a16="http://schemas.microsoft.com/office/drawing/2014/main" id="{38F344D4-F637-51FF-622E-08D32D145859}"/>
                </a:ext>
              </a:extLst>
            </p:cNvPr>
            <p:cNvSpPr txBox="1"/>
            <p:nvPr/>
          </p:nvSpPr>
          <p:spPr>
            <a:xfrm>
              <a:off x="0" y="-66675"/>
              <a:ext cx="2576646" cy="1607360"/>
            </a:xfrm>
            <a:prstGeom prst="rect">
              <a:avLst/>
            </a:prstGeom>
          </p:spPr>
          <p:txBody>
            <a:bodyPr lIns="50800" tIns="50800" rIns="50800" bIns="50800" rtlCol="0" anchor="ctr"/>
            <a:lstStyle/>
            <a:p>
              <a:pPr algn="ctr">
                <a:lnSpc>
                  <a:spcPts val="3151"/>
                </a:lnSpc>
              </a:pPr>
              <a:endParaRPr/>
            </a:p>
          </p:txBody>
        </p:sp>
      </p:grpSp>
      <p:grpSp>
        <p:nvGrpSpPr>
          <p:cNvPr id="14" name="Group 14">
            <a:extLst>
              <a:ext uri="{FF2B5EF4-FFF2-40B4-BE49-F238E27FC236}">
                <a16:creationId xmlns:a16="http://schemas.microsoft.com/office/drawing/2014/main" id="{2512503A-A694-CA01-247F-AB718E4E1DF4}"/>
              </a:ext>
            </a:extLst>
          </p:cNvPr>
          <p:cNvGrpSpPr/>
          <p:nvPr/>
        </p:nvGrpSpPr>
        <p:grpSpPr>
          <a:xfrm>
            <a:off x="803986" y="8293197"/>
            <a:ext cx="16682906" cy="1233630"/>
            <a:chOff x="0" y="0"/>
            <a:chExt cx="4393852" cy="324907"/>
          </a:xfrm>
        </p:grpSpPr>
        <p:sp>
          <p:nvSpPr>
            <p:cNvPr id="15" name="Freeform 15">
              <a:extLst>
                <a:ext uri="{FF2B5EF4-FFF2-40B4-BE49-F238E27FC236}">
                  <a16:creationId xmlns:a16="http://schemas.microsoft.com/office/drawing/2014/main" id="{35C09006-E146-D0BD-6924-AF59BB6AD0CF}"/>
                </a:ext>
              </a:extLst>
            </p:cNvPr>
            <p:cNvSpPr/>
            <p:nvPr/>
          </p:nvSpPr>
          <p:spPr>
            <a:xfrm>
              <a:off x="0" y="0"/>
              <a:ext cx="4393852" cy="324907"/>
            </a:xfrm>
            <a:custGeom>
              <a:avLst/>
              <a:gdLst/>
              <a:ahLst/>
              <a:cxnLst/>
              <a:rect l="l" t="t" r="r" b="b"/>
              <a:pathLst>
                <a:path w="4393852" h="324907">
                  <a:moveTo>
                    <a:pt x="21811" y="0"/>
                  </a:moveTo>
                  <a:lnTo>
                    <a:pt x="4372041" y="0"/>
                  </a:lnTo>
                  <a:cubicBezTo>
                    <a:pt x="4384087" y="0"/>
                    <a:pt x="4393852" y="9765"/>
                    <a:pt x="4393852" y="21811"/>
                  </a:cubicBezTo>
                  <a:lnTo>
                    <a:pt x="4393852" y="303096"/>
                  </a:lnTo>
                  <a:cubicBezTo>
                    <a:pt x="4393852" y="315142"/>
                    <a:pt x="4384087" y="324907"/>
                    <a:pt x="4372041" y="324907"/>
                  </a:cubicBezTo>
                  <a:lnTo>
                    <a:pt x="21811" y="324907"/>
                  </a:lnTo>
                  <a:cubicBezTo>
                    <a:pt x="9765" y="324907"/>
                    <a:pt x="0" y="315142"/>
                    <a:pt x="0" y="303096"/>
                  </a:cubicBezTo>
                  <a:lnTo>
                    <a:pt x="0" y="21811"/>
                  </a:lnTo>
                  <a:cubicBezTo>
                    <a:pt x="0" y="9765"/>
                    <a:pt x="9765" y="0"/>
                    <a:pt x="21811" y="0"/>
                  </a:cubicBezTo>
                  <a:close/>
                </a:path>
              </a:pathLst>
            </a:custGeom>
            <a:solidFill>
              <a:srgbClr val="000000">
                <a:alpha val="0"/>
              </a:srgbClr>
            </a:solidFill>
            <a:ln w="28575" cap="rnd">
              <a:solidFill>
                <a:srgbClr val="FFFFFF"/>
              </a:solidFill>
              <a:prstDash val="solid"/>
              <a:round/>
            </a:ln>
          </p:spPr>
        </p:sp>
        <p:sp>
          <p:nvSpPr>
            <p:cNvPr id="16" name="TextBox 16">
              <a:extLst>
                <a:ext uri="{FF2B5EF4-FFF2-40B4-BE49-F238E27FC236}">
                  <a16:creationId xmlns:a16="http://schemas.microsoft.com/office/drawing/2014/main" id="{0EF44CF0-AA42-06FB-F4A2-AC6DABB4BED3}"/>
                </a:ext>
              </a:extLst>
            </p:cNvPr>
            <p:cNvSpPr txBox="1"/>
            <p:nvPr/>
          </p:nvSpPr>
          <p:spPr>
            <a:xfrm>
              <a:off x="0" y="-66675"/>
              <a:ext cx="4393852" cy="391582"/>
            </a:xfrm>
            <a:prstGeom prst="rect">
              <a:avLst/>
            </a:prstGeom>
          </p:spPr>
          <p:txBody>
            <a:bodyPr lIns="50800" tIns="50800" rIns="50800" bIns="50800" rtlCol="0" anchor="ctr"/>
            <a:lstStyle/>
            <a:p>
              <a:pPr algn="ctr">
                <a:lnSpc>
                  <a:spcPts val="3151"/>
                </a:lnSpc>
              </a:pPr>
              <a:endParaRPr/>
            </a:p>
          </p:txBody>
        </p:sp>
      </p:grpSp>
      <p:sp>
        <p:nvSpPr>
          <p:cNvPr id="22" name="TextBox 21">
            <a:extLst>
              <a:ext uri="{FF2B5EF4-FFF2-40B4-BE49-F238E27FC236}">
                <a16:creationId xmlns:a16="http://schemas.microsoft.com/office/drawing/2014/main" id="{947AB2A4-B3EA-E69F-3890-46C1D4406F84}"/>
              </a:ext>
            </a:extLst>
          </p:cNvPr>
          <p:cNvSpPr txBox="1"/>
          <p:nvPr/>
        </p:nvSpPr>
        <p:spPr>
          <a:xfrm>
            <a:off x="8154659" y="2324100"/>
            <a:ext cx="8837941" cy="5078313"/>
          </a:xfrm>
          <a:prstGeom prst="rect">
            <a:avLst/>
          </a:prstGeom>
          <a:noFill/>
        </p:spPr>
        <p:txBody>
          <a:bodyPr wrap="square" rtlCol="0">
            <a:spAutoFit/>
          </a:bodyPr>
          <a:lstStyle/>
          <a:p>
            <a:r>
              <a:rPr lang="en-US" b="1" dirty="0">
                <a:solidFill>
                  <a:schemeClr val="bg1"/>
                </a:solidFill>
              </a:rPr>
              <a:t>Key Insights</a:t>
            </a: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Grocery Dominates Volume:</a:t>
            </a:r>
            <a:r>
              <a:rPr lang="en-US" dirty="0">
                <a:solidFill>
                  <a:schemeClr val="bg1"/>
                </a:solidFill>
              </a:rPr>
              <a:t> Grocery &amp; Staples operates at a much higher scale (quantities up to 600) compared to all other categories (most cap around 150), reinforcing its role as the primary volume driver.</a:t>
            </a:r>
          </a:p>
          <a:p>
            <a:pPr marL="285750" indent="-285750">
              <a:buFont typeface="Arial" panose="020B0604020202020204" pitchFamily="34" charset="0"/>
              <a:buChar char="•"/>
            </a:pPr>
            <a:r>
              <a:rPr lang="en-US" b="1" dirty="0">
                <a:solidFill>
                  <a:schemeClr val="bg1"/>
                </a:solidFill>
              </a:rPr>
              <a:t>Right Skew/Lower Volume in Key Categories:</a:t>
            </a:r>
            <a:r>
              <a:rPr lang="en-US" dirty="0">
                <a:solidFill>
                  <a:schemeClr val="bg1"/>
                </a:solidFill>
              </a:rPr>
              <a:t> Home Care and Personal Care distributions are heavily right-skewed, meaning most pre-promotion sales are low volume transactions (below 50 units).</a:t>
            </a:r>
          </a:p>
          <a:p>
            <a:pPr marL="285750" indent="-285750">
              <a:buFont typeface="Arial" panose="020B0604020202020204" pitchFamily="34" charset="0"/>
              <a:buChar char="•"/>
            </a:pPr>
            <a:r>
              <a:rPr lang="en-US" b="1" dirty="0">
                <a:solidFill>
                  <a:schemeClr val="bg1"/>
                </a:solidFill>
              </a:rPr>
              <a:t>Bimodal/Complex Patterns in Appliances/Combo:</a:t>
            </a:r>
            <a:r>
              <a:rPr lang="en-US" dirty="0">
                <a:solidFill>
                  <a:schemeClr val="bg1"/>
                </a:solidFill>
              </a:rPr>
              <a:t> Home Appliances and Combo1 show flatter or multi-modal (bimodal) distributions, suggesting these categories have distinct purchasing groups or two common order sizes (low volume and high volume).</a:t>
            </a:r>
          </a:p>
          <a:p>
            <a:pPr marL="285750" indent="-285750">
              <a:buFont typeface="Arial" panose="020B0604020202020204" pitchFamily="34" charset="0"/>
              <a:buChar char="•"/>
            </a:pPr>
            <a:endParaRPr lang="en-US" dirty="0">
              <a:solidFill>
                <a:schemeClr val="bg1"/>
              </a:solidFill>
            </a:endParaRPr>
          </a:p>
          <a:p>
            <a:r>
              <a:rPr lang="en-US" b="1" dirty="0">
                <a:solidFill>
                  <a:schemeClr val="bg1"/>
                </a:solidFill>
              </a:rPr>
              <a:t>Recommendations</a:t>
            </a: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Tailor Promotional Price Points:</a:t>
            </a:r>
            <a:r>
              <a:rPr lang="en-US" dirty="0">
                <a:solidFill>
                  <a:schemeClr val="bg1"/>
                </a:solidFill>
              </a:rPr>
              <a:t> Develop promotions for Home Care and Personal Care that specifically target the high frequency of low-volume transactions (e.g., "buy one, get one at 50%").</a:t>
            </a:r>
          </a:p>
          <a:p>
            <a:pPr marL="285750" indent="-285750">
              <a:buFont typeface="Arial" panose="020B0604020202020204" pitchFamily="34" charset="0"/>
              <a:buChar char="•"/>
            </a:pPr>
            <a:r>
              <a:rPr lang="en-US" b="1" dirty="0">
                <a:solidFill>
                  <a:schemeClr val="bg1"/>
                </a:solidFill>
              </a:rPr>
              <a:t>Segment Appliances/Combo:</a:t>
            </a:r>
            <a:r>
              <a:rPr lang="en-US" dirty="0">
                <a:solidFill>
                  <a:schemeClr val="bg1"/>
                </a:solidFill>
              </a:rPr>
              <a:t> Investigate the two primary modes (peaks) in the Home Appliances and Combo1 distributions to define two distinct customer segments and market to them separately.</a:t>
            </a:r>
          </a:p>
        </p:txBody>
      </p:sp>
      <p:pic>
        <p:nvPicPr>
          <p:cNvPr id="24" name="Picture 23">
            <a:extLst>
              <a:ext uri="{FF2B5EF4-FFF2-40B4-BE49-F238E27FC236}">
                <a16:creationId xmlns:a16="http://schemas.microsoft.com/office/drawing/2014/main" id="{7F3C837D-65E7-5939-6124-3CBD1AC6753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28700" y="3924301"/>
            <a:ext cx="6234586" cy="3306284"/>
          </a:xfrm>
          <a:prstGeom prst="rect">
            <a:avLst/>
          </a:prstGeom>
        </p:spPr>
      </p:pic>
      <p:sp>
        <p:nvSpPr>
          <p:cNvPr id="25" name="TextBox 24">
            <a:extLst>
              <a:ext uri="{FF2B5EF4-FFF2-40B4-BE49-F238E27FC236}">
                <a16:creationId xmlns:a16="http://schemas.microsoft.com/office/drawing/2014/main" id="{01EEF457-2E76-6281-ABB5-31B02846653D}"/>
              </a:ext>
            </a:extLst>
          </p:cNvPr>
          <p:cNvSpPr txBox="1"/>
          <p:nvPr/>
        </p:nvSpPr>
        <p:spPr>
          <a:xfrm>
            <a:off x="1153316" y="2010883"/>
            <a:ext cx="5792054" cy="1754326"/>
          </a:xfrm>
          <a:prstGeom prst="rect">
            <a:avLst/>
          </a:prstGeom>
          <a:noFill/>
        </p:spPr>
        <p:txBody>
          <a:bodyPr wrap="square" rtlCol="0">
            <a:spAutoFit/>
          </a:bodyPr>
          <a:lstStyle/>
          <a:p>
            <a:r>
              <a:rPr lang="en-US" dirty="0">
                <a:solidFill>
                  <a:schemeClr val="bg1"/>
                </a:solidFill>
              </a:rPr>
              <a:t>4. Analyze the distribution of quantity sold before the promotion for each product category (Grocery &amp; Staples, Home Care, Personal Care, Home Appliances, etc.). What patterns or trends do you observe across these categories, and how could these insights inform future promotional strategies?</a:t>
            </a:r>
            <a:endParaRPr lang="en-IN" dirty="0">
              <a:solidFill>
                <a:schemeClr val="bg1"/>
              </a:solidFill>
            </a:endParaRPr>
          </a:p>
        </p:txBody>
      </p:sp>
      <p:sp>
        <p:nvSpPr>
          <p:cNvPr id="26" name="TextBox 25">
            <a:extLst>
              <a:ext uri="{FF2B5EF4-FFF2-40B4-BE49-F238E27FC236}">
                <a16:creationId xmlns:a16="http://schemas.microsoft.com/office/drawing/2014/main" id="{9FF907AC-4DB9-A44E-3EA3-FAD3739DBE1E}"/>
              </a:ext>
            </a:extLst>
          </p:cNvPr>
          <p:cNvSpPr txBox="1"/>
          <p:nvPr/>
        </p:nvSpPr>
        <p:spPr>
          <a:xfrm>
            <a:off x="1028700" y="8495412"/>
            <a:ext cx="15963900" cy="830997"/>
          </a:xfrm>
          <a:prstGeom prst="rect">
            <a:avLst/>
          </a:prstGeom>
          <a:noFill/>
        </p:spPr>
        <p:txBody>
          <a:bodyPr wrap="square" rtlCol="0">
            <a:spAutoFit/>
          </a:bodyPr>
          <a:lstStyle/>
          <a:p>
            <a:r>
              <a:rPr lang="en-US" sz="2400" b="1" dirty="0">
                <a:solidFill>
                  <a:schemeClr val="bg1"/>
                </a:solidFill>
              </a:rPr>
              <a:t>Conclusion: </a:t>
            </a:r>
            <a:r>
              <a:rPr lang="en-US" sz="2400" dirty="0">
                <a:solidFill>
                  <a:schemeClr val="bg1"/>
                </a:solidFill>
              </a:rPr>
              <a:t>The pre-promotion sales volume and distribution shape vary significantly across categories, necessitating highly customized inventory and marketing strategies for each product group.</a:t>
            </a:r>
          </a:p>
        </p:txBody>
      </p:sp>
    </p:spTree>
    <p:extLst>
      <p:ext uri="{BB962C8B-B14F-4D97-AF65-F5344CB8AC3E}">
        <p14:creationId xmlns:p14="http://schemas.microsoft.com/office/powerpoint/2010/main" val="1826271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05A3C12F-2EC6-4FCE-F81F-550A21632C2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0194AB7-2006-3E69-8511-34C7714EF45B}"/>
              </a:ext>
            </a:extLst>
          </p:cNvPr>
          <p:cNvSpPr/>
          <p:nvPr/>
        </p:nvSpPr>
        <p:spPr>
          <a:xfrm>
            <a:off x="803986" y="803986"/>
            <a:ext cx="449429" cy="449429"/>
          </a:xfrm>
          <a:custGeom>
            <a:avLst/>
            <a:gdLst/>
            <a:ahLst/>
            <a:cxnLst/>
            <a:rect l="l" t="t" r="r" b="b"/>
            <a:pathLst>
              <a:path w="449429" h="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a:extLst>
              <a:ext uri="{FF2B5EF4-FFF2-40B4-BE49-F238E27FC236}">
                <a16:creationId xmlns:a16="http://schemas.microsoft.com/office/drawing/2014/main" id="{71FD0407-8D47-5A82-B473-40F4D28D0BFD}"/>
              </a:ext>
            </a:extLst>
          </p:cNvPr>
          <p:cNvSpPr txBox="1"/>
          <p:nvPr/>
        </p:nvSpPr>
        <p:spPr>
          <a:xfrm>
            <a:off x="1363845" y="768097"/>
            <a:ext cx="2685498" cy="409023"/>
          </a:xfrm>
          <a:prstGeom prst="rect">
            <a:avLst/>
          </a:prstGeom>
        </p:spPr>
        <p:txBody>
          <a:bodyPr lIns="0" tIns="0" rIns="0" bIns="0" rtlCol="0" anchor="t">
            <a:spAutoFit/>
          </a:bodyPr>
          <a:lstStyle/>
          <a:p>
            <a:pPr>
              <a:lnSpc>
                <a:spcPts val="3391"/>
              </a:lnSpc>
              <a:spcBef>
                <a:spcPct val="0"/>
              </a:spcBef>
            </a:pPr>
            <a:r>
              <a:rPr lang="en-US" sz="2422" b="1" spc="-109" dirty="0">
                <a:solidFill>
                  <a:srgbClr val="FFFFFF"/>
                </a:solidFill>
                <a:latin typeface="Telegraf Bold"/>
                <a:ea typeface="Telegraf Bold"/>
                <a:cs typeface="Telegraf Bold"/>
                <a:sym typeface="Telegraf Bold"/>
              </a:rPr>
              <a:t>Nova Mart</a:t>
            </a:r>
          </a:p>
        </p:txBody>
      </p:sp>
      <p:sp>
        <p:nvSpPr>
          <p:cNvPr id="4" name="TextBox 4">
            <a:extLst>
              <a:ext uri="{FF2B5EF4-FFF2-40B4-BE49-F238E27FC236}">
                <a16:creationId xmlns:a16="http://schemas.microsoft.com/office/drawing/2014/main" id="{D289A936-89A0-8D93-CFD9-987358CC0162}"/>
              </a:ext>
            </a:extLst>
          </p:cNvPr>
          <p:cNvSpPr txBox="1"/>
          <p:nvPr/>
        </p:nvSpPr>
        <p:spPr>
          <a:xfrm>
            <a:off x="9144000" y="841660"/>
            <a:ext cx="1662550"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Home</a:t>
            </a:r>
          </a:p>
        </p:txBody>
      </p:sp>
      <p:sp>
        <p:nvSpPr>
          <p:cNvPr id="5" name="TextBox 5">
            <a:extLst>
              <a:ext uri="{FF2B5EF4-FFF2-40B4-BE49-F238E27FC236}">
                <a16:creationId xmlns:a16="http://schemas.microsoft.com/office/drawing/2014/main" id="{896511CC-C1B9-B210-BC2A-BD0889C74306}"/>
              </a:ext>
            </a:extLst>
          </p:cNvPr>
          <p:cNvSpPr txBox="1"/>
          <p:nvPr/>
        </p:nvSpPr>
        <p:spPr>
          <a:xfrm>
            <a:off x="11408122" y="843874"/>
            <a:ext cx="1907082" cy="409541"/>
          </a:xfrm>
          <a:prstGeom prst="rect">
            <a:avLst/>
          </a:prstGeom>
        </p:spPr>
        <p:txBody>
          <a:bodyPr lIns="0" tIns="0" rIns="0" bIns="0" rtlCol="0" anchor="t">
            <a:spAutoFit/>
          </a:bodyPr>
          <a:lstStyle/>
          <a:p>
            <a:pPr marL="0" lvl="0" indent="0" algn="ctr">
              <a:lnSpc>
                <a:spcPts val="3151"/>
              </a:lnSpc>
              <a:spcBef>
                <a:spcPct val="0"/>
              </a:spcBef>
            </a:pPr>
            <a:r>
              <a:rPr lang="en-US" sz="2251">
                <a:solidFill>
                  <a:srgbClr val="FFFFFF"/>
                </a:solidFill>
                <a:latin typeface="Poppins"/>
                <a:ea typeface="Poppins"/>
                <a:cs typeface="Poppins"/>
                <a:sym typeface="Poppins"/>
              </a:rPr>
              <a:t>About</a:t>
            </a:r>
          </a:p>
        </p:txBody>
      </p:sp>
      <p:sp>
        <p:nvSpPr>
          <p:cNvPr id="6" name="TextBox 6">
            <a:extLst>
              <a:ext uri="{FF2B5EF4-FFF2-40B4-BE49-F238E27FC236}">
                <a16:creationId xmlns:a16="http://schemas.microsoft.com/office/drawing/2014/main" id="{F551C8D1-AC57-EA04-4DC6-0CAF8A14CBED}"/>
              </a:ext>
            </a:extLst>
          </p:cNvPr>
          <p:cNvSpPr txBox="1"/>
          <p:nvPr/>
        </p:nvSpPr>
        <p:spPr>
          <a:xfrm>
            <a:off x="13726729" y="819695"/>
            <a:ext cx="1916881" cy="409541"/>
          </a:xfrm>
          <a:prstGeom prst="rect">
            <a:avLst/>
          </a:prstGeom>
        </p:spPr>
        <p:txBody>
          <a:bodyPr lIns="0" tIns="0" rIns="0" bIns="0" rtlCol="0" anchor="t">
            <a:spAutoFit/>
          </a:bodyPr>
          <a:lstStyle/>
          <a:p>
            <a:pPr marL="0" lvl="0" indent="0" algn="ctr">
              <a:lnSpc>
                <a:spcPts val="3151"/>
              </a:lnSpc>
              <a:spcBef>
                <a:spcPct val="0"/>
              </a:spcBef>
            </a:pPr>
            <a:r>
              <a:rPr lang="en-US" sz="2251" b="1">
                <a:solidFill>
                  <a:srgbClr val="FFFFFF"/>
                </a:solidFill>
                <a:latin typeface="Poppins Bold"/>
                <a:ea typeface="Poppins Bold"/>
                <a:cs typeface="Poppins Bold"/>
                <a:sym typeface="Poppins Bold"/>
              </a:rPr>
              <a:t>Content</a:t>
            </a:r>
          </a:p>
        </p:txBody>
      </p:sp>
      <p:sp>
        <p:nvSpPr>
          <p:cNvPr id="7" name="TextBox 7">
            <a:extLst>
              <a:ext uri="{FF2B5EF4-FFF2-40B4-BE49-F238E27FC236}">
                <a16:creationId xmlns:a16="http://schemas.microsoft.com/office/drawing/2014/main" id="{E69E3ADE-DEDE-39C7-2940-D221E43774A9}"/>
              </a:ext>
            </a:extLst>
          </p:cNvPr>
          <p:cNvSpPr txBox="1"/>
          <p:nvPr/>
        </p:nvSpPr>
        <p:spPr>
          <a:xfrm>
            <a:off x="15034325" y="841660"/>
            <a:ext cx="2224975"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Others</a:t>
            </a:r>
          </a:p>
        </p:txBody>
      </p:sp>
      <p:grpSp>
        <p:nvGrpSpPr>
          <p:cNvPr id="8" name="Group 8">
            <a:extLst>
              <a:ext uri="{FF2B5EF4-FFF2-40B4-BE49-F238E27FC236}">
                <a16:creationId xmlns:a16="http://schemas.microsoft.com/office/drawing/2014/main" id="{1C6D27F7-D3EF-E612-1F74-DA1851E8B347}"/>
              </a:ext>
            </a:extLst>
          </p:cNvPr>
          <p:cNvGrpSpPr/>
          <p:nvPr/>
        </p:nvGrpSpPr>
        <p:grpSpPr>
          <a:xfrm>
            <a:off x="803986" y="1851792"/>
            <a:ext cx="6657292" cy="5849788"/>
            <a:chOff x="0" y="0"/>
            <a:chExt cx="1659648" cy="1556868"/>
          </a:xfrm>
        </p:grpSpPr>
        <p:sp>
          <p:nvSpPr>
            <p:cNvPr id="9" name="Freeform 9">
              <a:extLst>
                <a:ext uri="{FF2B5EF4-FFF2-40B4-BE49-F238E27FC236}">
                  <a16:creationId xmlns:a16="http://schemas.microsoft.com/office/drawing/2014/main" id="{63779138-DBDA-DE65-0ACC-7401126D9CD7}"/>
                </a:ext>
              </a:extLst>
            </p:cNvPr>
            <p:cNvSpPr/>
            <p:nvPr/>
          </p:nvSpPr>
          <p:spPr>
            <a:xfrm>
              <a:off x="0" y="0"/>
              <a:ext cx="1659648" cy="1556868"/>
            </a:xfrm>
            <a:custGeom>
              <a:avLst/>
              <a:gdLst/>
              <a:ahLst/>
              <a:cxnLst/>
              <a:rect l="l" t="t" r="r" b="b"/>
              <a:pathLst>
                <a:path w="1659648" h="1556868">
                  <a:moveTo>
                    <a:pt x="68801" y="0"/>
                  </a:moveTo>
                  <a:lnTo>
                    <a:pt x="1590847" y="0"/>
                  </a:lnTo>
                  <a:cubicBezTo>
                    <a:pt x="1609094" y="0"/>
                    <a:pt x="1626594" y="7249"/>
                    <a:pt x="1639497" y="20151"/>
                  </a:cubicBezTo>
                  <a:cubicBezTo>
                    <a:pt x="1652399" y="33054"/>
                    <a:pt x="1659648" y="50554"/>
                    <a:pt x="1659648" y="68801"/>
                  </a:cubicBezTo>
                  <a:lnTo>
                    <a:pt x="1659648" y="1488067"/>
                  </a:lnTo>
                  <a:cubicBezTo>
                    <a:pt x="1659648" y="1506314"/>
                    <a:pt x="1652399" y="1523814"/>
                    <a:pt x="1639497" y="1536717"/>
                  </a:cubicBezTo>
                  <a:cubicBezTo>
                    <a:pt x="1626594" y="1549620"/>
                    <a:pt x="1609094" y="1556868"/>
                    <a:pt x="1590847" y="1556868"/>
                  </a:cubicBezTo>
                  <a:lnTo>
                    <a:pt x="68801" y="1556868"/>
                  </a:lnTo>
                  <a:cubicBezTo>
                    <a:pt x="50554" y="1556868"/>
                    <a:pt x="33054" y="1549620"/>
                    <a:pt x="20151" y="1536717"/>
                  </a:cubicBezTo>
                  <a:cubicBezTo>
                    <a:pt x="7249" y="1523814"/>
                    <a:pt x="0" y="1506314"/>
                    <a:pt x="0" y="1488067"/>
                  </a:cubicBezTo>
                  <a:lnTo>
                    <a:pt x="0" y="68801"/>
                  </a:lnTo>
                  <a:cubicBezTo>
                    <a:pt x="0" y="50554"/>
                    <a:pt x="7249" y="33054"/>
                    <a:pt x="20151" y="20151"/>
                  </a:cubicBezTo>
                  <a:cubicBezTo>
                    <a:pt x="33054" y="7249"/>
                    <a:pt x="50554" y="0"/>
                    <a:pt x="68801" y="0"/>
                  </a:cubicBezTo>
                  <a:close/>
                </a:path>
              </a:pathLst>
            </a:custGeom>
            <a:gradFill rotWithShape="1">
              <a:gsLst>
                <a:gs pos="0">
                  <a:srgbClr val="000000">
                    <a:alpha val="78000"/>
                  </a:srgbClr>
                </a:gs>
                <a:gs pos="100000">
                  <a:srgbClr val="DDDDDD">
                    <a:alpha val="14820"/>
                  </a:srgbClr>
                </a:gs>
              </a:gsLst>
              <a:lin ang="2700000"/>
            </a:gradFill>
          </p:spPr>
        </p:sp>
        <p:sp>
          <p:nvSpPr>
            <p:cNvPr id="10" name="TextBox 10">
              <a:extLst>
                <a:ext uri="{FF2B5EF4-FFF2-40B4-BE49-F238E27FC236}">
                  <a16:creationId xmlns:a16="http://schemas.microsoft.com/office/drawing/2014/main" id="{2172F65E-7804-72A6-BEB9-60E8847B9AF6}"/>
                </a:ext>
              </a:extLst>
            </p:cNvPr>
            <p:cNvSpPr txBox="1"/>
            <p:nvPr/>
          </p:nvSpPr>
          <p:spPr>
            <a:xfrm>
              <a:off x="0" y="-66675"/>
              <a:ext cx="1659648" cy="1623543"/>
            </a:xfrm>
            <a:prstGeom prst="rect">
              <a:avLst/>
            </a:prstGeom>
          </p:spPr>
          <p:txBody>
            <a:bodyPr lIns="50800" tIns="50800" rIns="50800" bIns="50800" rtlCol="0" anchor="ctr"/>
            <a:lstStyle/>
            <a:p>
              <a:pPr algn="ctr">
                <a:lnSpc>
                  <a:spcPts val="3151"/>
                </a:lnSpc>
              </a:pPr>
              <a:endParaRPr/>
            </a:p>
          </p:txBody>
        </p:sp>
      </p:grpSp>
      <p:grpSp>
        <p:nvGrpSpPr>
          <p:cNvPr id="11" name="Group 11">
            <a:extLst>
              <a:ext uri="{FF2B5EF4-FFF2-40B4-BE49-F238E27FC236}">
                <a16:creationId xmlns:a16="http://schemas.microsoft.com/office/drawing/2014/main" id="{B93F8FDC-1564-9C25-B04A-94B87AD25C0B}"/>
              </a:ext>
            </a:extLst>
          </p:cNvPr>
          <p:cNvGrpSpPr/>
          <p:nvPr/>
        </p:nvGrpSpPr>
        <p:grpSpPr>
          <a:xfrm>
            <a:off x="7703689" y="1851792"/>
            <a:ext cx="9783203" cy="5849788"/>
            <a:chOff x="0" y="0"/>
            <a:chExt cx="2576646" cy="1540685"/>
          </a:xfrm>
        </p:grpSpPr>
        <p:sp>
          <p:nvSpPr>
            <p:cNvPr id="12" name="Freeform 12">
              <a:extLst>
                <a:ext uri="{FF2B5EF4-FFF2-40B4-BE49-F238E27FC236}">
                  <a16:creationId xmlns:a16="http://schemas.microsoft.com/office/drawing/2014/main" id="{5021B1CA-1F36-EAF4-39F8-3B6EA2C47470}"/>
                </a:ext>
              </a:extLst>
            </p:cNvPr>
            <p:cNvSpPr/>
            <p:nvPr/>
          </p:nvSpPr>
          <p:spPr>
            <a:xfrm>
              <a:off x="0" y="0"/>
              <a:ext cx="2576646" cy="1540685"/>
            </a:xfrm>
            <a:custGeom>
              <a:avLst/>
              <a:gdLst/>
              <a:ahLst/>
              <a:cxnLst/>
              <a:rect l="l" t="t" r="r" b="b"/>
              <a:pathLst>
                <a:path w="2576646" h="1540685">
                  <a:moveTo>
                    <a:pt x="44315" y="0"/>
                  </a:moveTo>
                  <a:lnTo>
                    <a:pt x="2532331" y="0"/>
                  </a:lnTo>
                  <a:cubicBezTo>
                    <a:pt x="2556806" y="0"/>
                    <a:pt x="2576646" y="19841"/>
                    <a:pt x="2576646" y="44315"/>
                  </a:cubicBezTo>
                  <a:lnTo>
                    <a:pt x="2576646" y="1496370"/>
                  </a:lnTo>
                  <a:cubicBezTo>
                    <a:pt x="2576646" y="1508123"/>
                    <a:pt x="2571977" y="1519395"/>
                    <a:pt x="2563667" y="1527705"/>
                  </a:cubicBezTo>
                  <a:cubicBezTo>
                    <a:pt x="2555356" y="1536016"/>
                    <a:pt x="2544084" y="1540685"/>
                    <a:pt x="2532331" y="1540685"/>
                  </a:cubicBezTo>
                  <a:lnTo>
                    <a:pt x="44315" y="1540685"/>
                  </a:lnTo>
                  <a:cubicBezTo>
                    <a:pt x="32562" y="1540685"/>
                    <a:pt x="21290" y="1536016"/>
                    <a:pt x="12980" y="1527705"/>
                  </a:cubicBezTo>
                  <a:cubicBezTo>
                    <a:pt x="4669" y="1519395"/>
                    <a:pt x="0" y="1508123"/>
                    <a:pt x="0" y="1496370"/>
                  </a:cubicBezTo>
                  <a:lnTo>
                    <a:pt x="0" y="44315"/>
                  </a:lnTo>
                  <a:cubicBezTo>
                    <a:pt x="0" y="32562"/>
                    <a:pt x="4669" y="21290"/>
                    <a:pt x="12980" y="12980"/>
                  </a:cubicBezTo>
                  <a:cubicBezTo>
                    <a:pt x="21290" y="4669"/>
                    <a:pt x="32562" y="0"/>
                    <a:pt x="44315" y="0"/>
                  </a:cubicBezTo>
                  <a:close/>
                </a:path>
              </a:pathLst>
            </a:custGeom>
            <a:gradFill rotWithShape="1">
              <a:gsLst>
                <a:gs pos="0">
                  <a:srgbClr val="000F9B">
                    <a:alpha val="100000"/>
                  </a:srgbClr>
                </a:gs>
                <a:gs pos="50000">
                  <a:srgbClr val="EB0000">
                    <a:alpha val="100000"/>
                  </a:srgbClr>
                </a:gs>
                <a:gs pos="100000">
                  <a:srgbClr val="A000EB">
                    <a:alpha val="100000"/>
                  </a:srgbClr>
                </a:gs>
              </a:gsLst>
              <a:path path="circle">
                <a:fillToRect r="100000" b="100000"/>
              </a:path>
              <a:tileRect l="-100000" t="-100000"/>
            </a:gradFill>
          </p:spPr>
        </p:sp>
        <p:sp>
          <p:nvSpPr>
            <p:cNvPr id="13" name="TextBox 13">
              <a:extLst>
                <a:ext uri="{FF2B5EF4-FFF2-40B4-BE49-F238E27FC236}">
                  <a16:creationId xmlns:a16="http://schemas.microsoft.com/office/drawing/2014/main" id="{07442B8C-3458-A024-B630-CD1F48B1BAE3}"/>
                </a:ext>
              </a:extLst>
            </p:cNvPr>
            <p:cNvSpPr txBox="1"/>
            <p:nvPr/>
          </p:nvSpPr>
          <p:spPr>
            <a:xfrm>
              <a:off x="0" y="-66675"/>
              <a:ext cx="2576646" cy="1607360"/>
            </a:xfrm>
            <a:prstGeom prst="rect">
              <a:avLst/>
            </a:prstGeom>
          </p:spPr>
          <p:txBody>
            <a:bodyPr lIns="50800" tIns="50800" rIns="50800" bIns="50800" rtlCol="0" anchor="ctr"/>
            <a:lstStyle/>
            <a:p>
              <a:pPr algn="ctr">
                <a:lnSpc>
                  <a:spcPts val="3151"/>
                </a:lnSpc>
              </a:pPr>
              <a:endParaRPr/>
            </a:p>
          </p:txBody>
        </p:sp>
      </p:grpSp>
      <p:grpSp>
        <p:nvGrpSpPr>
          <p:cNvPr id="14" name="Group 14">
            <a:extLst>
              <a:ext uri="{FF2B5EF4-FFF2-40B4-BE49-F238E27FC236}">
                <a16:creationId xmlns:a16="http://schemas.microsoft.com/office/drawing/2014/main" id="{0B22881A-0B7C-6A2E-44B6-DC56404E7F55}"/>
              </a:ext>
            </a:extLst>
          </p:cNvPr>
          <p:cNvGrpSpPr/>
          <p:nvPr/>
        </p:nvGrpSpPr>
        <p:grpSpPr>
          <a:xfrm>
            <a:off x="803986" y="8293197"/>
            <a:ext cx="16682906" cy="1233630"/>
            <a:chOff x="0" y="0"/>
            <a:chExt cx="4393852" cy="324907"/>
          </a:xfrm>
        </p:grpSpPr>
        <p:sp>
          <p:nvSpPr>
            <p:cNvPr id="15" name="Freeform 15">
              <a:extLst>
                <a:ext uri="{FF2B5EF4-FFF2-40B4-BE49-F238E27FC236}">
                  <a16:creationId xmlns:a16="http://schemas.microsoft.com/office/drawing/2014/main" id="{7B0B9C93-B568-E62F-F5DE-55C1A89B1B42}"/>
                </a:ext>
              </a:extLst>
            </p:cNvPr>
            <p:cNvSpPr/>
            <p:nvPr/>
          </p:nvSpPr>
          <p:spPr>
            <a:xfrm>
              <a:off x="0" y="0"/>
              <a:ext cx="4393852" cy="324907"/>
            </a:xfrm>
            <a:custGeom>
              <a:avLst/>
              <a:gdLst/>
              <a:ahLst/>
              <a:cxnLst/>
              <a:rect l="l" t="t" r="r" b="b"/>
              <a:pathLst>
                <a:path w="4393852" h="324907">
                  <a:moveTo>
                    <a:pt x="21811" y="0"/>
                  </a:moveTo>
                  <a:lnTo>
                    <a:pt x="4372041" y="0"/>
                  </a:lnTo>
                  <a:cubicBezTo>
                    <a:pt x="4384087" y="0"/>
                    <a:pt x="4393852" y="9765"/>
                    <a:pt x="4393852" y="21811"/>
                  </a:cubicBezTo>
                  <a:lnTo>
                    <a:pt x="4393852" y="303096"/>
                  </a:lnTo>
                  <a:cubicBezTo>
                    <a:pt x="4393852" y="315142"/>
                    <a:pt x="4384087" y="324907"/>
                    <a:pt x="4372041" y="324907"/>
                  </a:cubicBezTo>
                  <a:lnTo>
                    <a:pt x="21811" y="324907"/>
                  </a:lnTo>
                  <a:cubicBezTo>
                    <a:pt x="9765" y="324907"/>
                    <a:pt x="0" y="315142"/>
                    <a:pt x="0" y="303096"/>
                  </a:cubicBezTo>
                  <a:lnTo>
                    <a:pt x="0" y="21811"/>
                  </a:lnTo>
                  <a:cubicBezTo>
                    <a:pt x="0" y="9765"/>
                    <a:pt x="9765" y="0"/>
                    <a:pt x="21811" y="0"/>
                  </a:cubicBezTo>
                  <a:close/>
                </a:path>
              </a:pathLst>
            </a:custGeom>
            <a:solidFill>
              <a:srgbClr val="000000">
                <a:alpha val="0"/>
              </a:srgbClr>
            </a:solidFill>
            <a:ln w="28575" cap="rnd">
              <a:solidFill>
                <a:srgbClr val="FFFFFF"/>
              </a:solidFill>
              <a:prstDash val="solid"/>
              <a:round/>
            </a:ln>
          </p:spPr>
        </p:sp>
        <p:sp>
          <p:nvSpPr>
            <p:cNvPr id="16" name="TextBox 16">
              <a:extLst>
                <a:ext uri="{FF2B5EF4-FFF2-40B4-BE49-F238E27FC236}">
                  <a16:creationId xmlns:a16="http://schemas.microsoft.com/office/drawing/2014/main" id="{A05F839C-D4D5-B999-D4CD-8D8E9D198091}"/>
                </a:ext>
              </a:extLst>
            </p:cNvPr>
            <p:cNvSpPr txBox="1"/>
            <p:nvPr/>
          </p:nvSpPr>
          <p:spPr>
            <a:xfrm>
              <a:off x="0" y="-66675"/>
              <a:ext cx="4393852" cy="391582"/>
            </a:xfrm>
            <a:prstGeom prst="rect">
              <a:avLst/>
            </a:prstGeom>
          </p:spPr>
          <p:txBody>
            <a:bodyPr lIns="50800" tIns="50800" rIns="50800" bIns="50800" rtlCol="0" anchor="ctr"/>
            <a:lstStyle/>
            <a:p>
              <a:pPr algn="ctr">
                <a:lnSpc>
                  <a:spcPts val="3151"/>
                </a:lnSpc>
              </a:pPr>
              <a:endParaRPr/>
            </a:p>
          </p:txBody>
        </p:sp>
      </p:grpSp>
      <p:sp>
        <p:nvSpPr>
          <p:cNvPr id="22" name="TextBox 21">
            <a:extLst>
              <a:ext uri="{FF2B5EF4-FFF2-40B4-BE49-F238E27FC236}">
                <a16:creationId xmlns:a16="http://schemas.microsoft.com/office/drawing/2014/main" id="{BD633200-BBA9-66F4-1E2C-897FEC5630E0}"/>
              </a:ext>
            </a:extLst>
          </p:cNvPr>
          <p:cNvSpPr txBox="1"/>
          <p:nvPr/>
        </p:nvSpPr>
        <p:spPr>
          <a:xfrm>
            <a:off x="8252519" y="2514528"/>
            <a:ext cx="8685541" cy="4524315"/>
          </a:xfrm>
          <a:prstGeom prst="rect">
            <a:avLst/>
          </a:prstGeom>
          <a:noFill/>
        </p:spPr>
        <p:txBody>
          <a:bodyPr wrap="square" rtlCol="0">
            <a:spAutoFit/>
          </a:bodyPr>
          <a:lstStyle/>
          <a:p>
            <a:r>
              <a:rPr lang="en-US" b="1" dirty="0">
                <a:solidFill>
                  <a:schemeClr val="bg1"/>
                </a:solidFill>
              </a:rPr>
              <a:t>Key Insights</a:t>
            </a: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High-Impact Leader:</a:t>
            </a:r>
            <a:r>
              <a:rPr lang="en-US" dirty="0">
                <a:solidFill>
                  <a:schemeClr val="bg1"/>
                </a:solidFill>
              </a:rPr>
              <a:t> Madurai has the highest promotional effectiveness, driving over 122% in incremental sold units, significantly outperforming all other cities.</a:t>
            </a:r>
          </a:p>
          <a:p>
            <a:pPr marL="285750" indent="-285750">
              <a:buFont typeface="Arial" panose="020B0604020202020204" pitchFamily="34" charset="0"/>
              <a:buChar char="•"/>
            </a:pPr>
            <a:r>
              <a:rPr lang="en-US" b="1" dirty="0">
                <a:solidFill>
                  <a:schemeClr val="bg1"/>
                </a:solidFill>
              </a:rPr>
              <a:t>Clear Declining Trend:</a:t>
            </a:r>
            <a:r>
              <a:rPr lang="en-US" dirty="0">
                <a:solidFill>
                  <a:schemeClr val="bg1"/>
                </a:solidFill>
              </a:rPr>
              <a:t> There is a distinct, monotonic downward trend in ISU% from Madurai to the bottom city, suggesting campaign effectiveness is not uniform and decreases predictably across the city ranking.</a:t>
            </a:r>
          </a:p>
          <a:p>
            <a:pPr marL="285750" indent="-285750">
              <a:buFont typeface="Arial" panose="020B0604020202020204" pitchFamily="34" charset="0"/>
              <a:buChar char="•"/>
            </a:pPr>
            <a:r>
              <a:rPr lang="en-US" b="1" dirty="0">
                <a:solidFill>
                  <a:schemeClr val="bg1"/>
                </a:solidFill>
              </a:rPr>
              <a:t>Below-Average Performers:</a:t>
            </a:r>
            <a:r>
              <a:rPr lang="en-US" dirty="0">
                <a:solidFill>
                  <a:schemeClr val="bg1"/>
                </a:solidFill>
              </a:rPr>
              <a:t> Hyderabad, Mangalore, and Visakhapatnam are clustered at the bottom, achieving very low incremental gains (close to 100%, meaning almost no increase, or slightly above).</a:t>
            </a:r>
          </a:p>
          <a:p>
            <a:pPr marL="285750" indent="-285750">
              <a:buFont typeface="Arial" panose="020B0604020202020204" pitchFamily="34" charset="0"/>
              <a:buChar char="•"/>
            </a:pPr>
            <a:endParaRPr lang="en-US" dirty="0">
              <a:solidFill>
                <a:schemeClr val="bg1"/>
              </a:solidFill>
            </a:endParaRPr>
          </a:p>
          <a:p>
            <a:r>
              <a:rPr lang="en-US" b="1" dirty="0">
                <a:solidFill>
                  <a:schemeClr val="bg1"/>
                </a:solidFill>
              </a:rPr>
              <a:t>Recommendations</a:t>
            </a: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Model Madurai Success:</a:t>
            </a:r>
            <a:r>
              <a:rPr lang="en-US" dirty="0">
                <a:solidFill>
                  <a:schemeClr val="bg1"/>
                </a:solidFill>
              </a:rPr>
              <a:t> Conduct a detailed study on the promotional execution and local factors in Madurai to replicate its high ISU% in other cities.</a:t>
            </a:r>
          </a:p>
          <a:p>
            <a:pPr marL="285750" indent="-285750">
              <a:buFont typeface="Arial" panose="020B0604020202020204" pitchFamily="34" charset="0"/>
              <a:buChar char="•"/>
            </a:pPr>
            <a:r>
              <a:rPr lang="en-US" b="1" dirty="0">
                <a:solidFill>
                  <a:schemeClr val="bg1"/>
                </a:solidFill>
              </a:rPr>
              <a:t>Revise Strategy for Bottom Cities:</a:t>
            </a:r>
            <a:r>
              <a:rPr lang="en-US" dirty="0">
                <a:solidFill>
                  <a:schemeClr val="bg1"/>
                </a:solidFill>
              </a:rPr>
              <a:t> Immediately revise the campaign strategy or allocation of promotional resources for Hyderabad, Mangalore, and Visakhapatnam where the current approach is failing to drive meaningful incremental sales.</a:t>
            </a:r>
          </a:p>
        </p:txBody>
      </p:sp>
      <p:pic>
        <p:nvPicPr>
          <p:cNvPr id="24" name="Picture 23">
            <a:extLst>
              <a:ext uri="{FF2B5EF4-FFF2-40B4-BE49-F238E27FC236}">
                <a16:creationId xmlns:a16="http://schemas.microsoft.com/office/drawing/2014/main" id="{EF6C4120-6A5E-6D68-4341-05F2E4ED2EA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53316" y="3647302"/>
            <a:ext cx="6009484" cy="3705998"/>
          </a:xfrm>
          <a:prstGeom prst="rect">
            <a:avLst/>
          </a:prstGeom>
        </p:spPr>
      </p:pic>
      <p:sp>
        <p:nvSpPr>
          <p:cNvPr id="25" name="TextBox 24">
            <a:extLst>
              <a:ext uri="{FF2B5EF4-FFF2-40B4-BE49-F238E27FC236}">
                <a16:creationId xmlns:a16="http://schemas.microsoft.com/office/drawing/2014/main" id="{58157F2E-0489-07B6-AFAC-6876DC69FF1B}"/>
              </a:ext>
            </a:extLst>
          </p:cNvPr>
          <p:cNvSpPr txBox="1"/>
          <p:nvPr/>
        </p:nvSpPr>
        <p:spPr>
          <a:xfrm>
            <a:off x="1153316" y="2010883"/>
            <a:ext cx="5792054" cy="1477328"/>
          </a:xfrm>
          <a:prstGeom prst="rect">
            <a:avLst/>
          </a:prstGeom>
          <a:noFill/>
        </p:spPr>
        <p:txBody>
          <a:bodyPr wrap="square" rtlCol="0">
            <a:spAutoFit/>
          </a:bodyPr>
          <a:lstStyle/>
          <a:p>
            <a:r>
              <a:rPr lang="en-US" dirty="0">
                <a:solidFill>
                  <a:schemeClr val="bg1"/>
                </a:solidFill>
              </a:rPr>
              <a:t>5. Analyze the incremental sold Units percentage (ISU%) across various cities. Identify the city with the highest ISU% after the promotion and the city with the smallest change. What trends can be observed about the effectiveness of promotions in driving sales across these cities?</a:t>
            </a:r>
            <a:endParaRPr lang="en-IN" dirty="0">
              <a:solidFill>
                <a:schemeClr val="bg1"/>
              </a:solidFill>
            </a:endParaRPr>
          </a:p>
        </p:txBody>
      </p:sp>
      <p:sp>
        <p:nvSpPr>
          <p:cNvPr id="26" name="TextBox 25">
            <a:extLst>
              <a:ext uri="{FF2B5EF4-FFF2-40B4-BE49-F238E27FC236}">
                <a16:creationId xmlns:a16="http://schemas.microsoft.com/office/drawing/2014/main" id="{AA8887CA-FE4B-12B9-2111-658D66A3395E}"/>
              </a:ext>
            </a:extLst>
          </p:cNvPr>
          <p:cNvSpPr txBox="1"/>
          <p:nvPr/>
        </p:nvSpPr>
        <p:spPr>
          <a:xfrm>
            <a:off x="1253415" y="8494513"/>
            <a:ext cx="15963900" cy="830997"/>
          </a:xfrm>
          <a:prstGeom prst="rect">
            <a:avLst/>
          </a:prstGeom>
          <a:noFill/>
        </p:spPr>
        <p:txBody>
          <a:bodyPr wrap="square" rtlCol="0">
            <a:spAutoFit/>
          </a:bodyPr>
          <a:lstStyle/>
          <a:p>
            <a:r>
              <a:rPr lang="en-US" sz="2400" b="1" dirty="0">
                <a:solidFill>
                  <a:schemeClr val="bg1"/>
                </a:solidFill>
              </a:rPr>
              <a:t>Conclusion: </a:t>
            </a:r>
            <a:r>
              <a:rPr lang="en-US" sz="2400" dirty="0">
                <a:solidFill>
                  <a:schemeClr val="bg1"/>
                </a:solidFill>
              </a:rPr>
              <a:t>Promotional effectiveness, measured by ISU%, varies drastically across cities, requiring replication of the high-impact Madurai model and immediate intervention in the lowest-performing markets.</a:t>
            </a:r>
          </a:p>
        </p:txBody>
      </p:sp>
    </p:spTree>
    <p:extLst>
      <p:ext uri="{BB962C8B-B14F-4D97-AF65-F5344CB8AC3E}">
        <p14:creationId xmlns:p14="http://schemas.microsoft.com/office/powerpoint/2010/main" val="2894409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9B58F4A6-3827-6EBC-7A98-B24E9AE4AF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FD5F7A0-6D0B-83E5-A65A-C2B1FFE2D3D4}"/>
              </a:ext>
            </a:extLst>
          </p:cNvPr>
          <p:cNvSpPr/>
          <p:nvPr/>
        </p:nvSpPr>
        <p:spPr>
          <a:xfrm>
            <a:off x="803986" y="803986"/>
            <a:ext cx="449429" cy="449429"/>
          </a:xfrm>
          <a:custGeom>
            <a:avLst/>
            <a:gdLst/>
            <a:ahLst/>
            <a:cxnLst/>
            <a:rect l="l" t="t" r="r" b="b"/>
            <a:pathLst>
              <a:path w="449429" h="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a:extLst>
              <a:ext uri="{FF2B5EF4-FFF2-40B4-BE49-F238E27FC236}">
                <a16:creationId xmlns:a16="http://schemas.microsoft.com/office/drawing/2014/main" id="{E60CCA16-1BA2-4548-C7CA-337C0D0B6A14}"/>
              </a:ext>
            </a:extLst>
          </p:cNvPr>
          <p:cNvSpPr txBox="1"/>
          <p:nvPr/>
        </p:nvSpPr>
        <p:spPr>
          <a:xfrm>
            <a:off x="1363845" y="768097"/>
            <a:ext cx="2685498" cy="409023"/>
          </a:xfrm>
          <a:prstGeom prst="rect">
            <a:avLst/>
          </a:prstGeom>
        </p:spPr>
        <p:txBody>
          <a:bodyPr lIns="0" tIns="0" rIns="0" bIns="0" rtlCol="0" anchor="t">
            <a:spAutoFit/>
          </a:bodyPr>
          <a:lstStyle/>
          <a:p>
            <a:pPr>
              <a:lnSpc>
                <a:spcPts val="3391"/>
              </a:lnSpc>
              <a:spcBef>
                <a:spcPct val="0"/>
              </a:spcBef>
            </a:pPr>
            <a:r>
              <a:rPr lang="en-US" sz="2422" b="1" spc="-109" dirty="0">
                <a:solidFill>
                  <a:srgbClr val="FFFFFF"/>
                </a:solidFill>
                <a:latin typeface="Telegraf Bold"/>
                <a:ea typeface="Telegraf Bold"/>
                <a:cs typeface="Telegraf Bold"/>
                <a:sym typeface="Telegraf Bold"/>
              </a:rPr>
              <a:t>Nova Mart</a:t>
            </a:r>
          </a:p>
        </p:txBody>
      </p:sp>
      <p:sp>
        <p:nvSpPr>
          <p:cNvPr id="4" name="TextBox 4">
            <a:extLst>
              <a:ext uri="{FF2B5EF4-FFF2-40B4-BE49-F238E27FC236}">
                <a16:creationId xmlns:a16="http://schemas.microsoft.com/office/drawing/2014/main" id="{A90B7EFC-473A-F2AE-880F-00EE6A84E180}"/>
              </a:ext>
            </a:extLst>
          </p:cNvPr>
          <p:cNvSpPr txBox="1"/>
          <p:nvPr/>
        </p:nvSpPr>
        <p:spPr>
          <a:xfrm>
            <a:off x="9144000" y="841660"/>
            <a:ext cx="1662550"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Home</a:t>
            </a:r>
          </a:p>
        </p:txBody>
      </p:sp>
      <p:sp>
        <p:nvSpPr>
          <p:cNvPr id="5" name="TextBox 5">
            <a:extLst>
              <a:ext uri="{FF2B5EF4-FFF2-40B4-BE49-F238E27FC236}">
                <a16:creationId xmlns:a16="http://schemas.microsoft.com/office/drawing/2014/main" id="{26AD6940-0FB1-573C-2A34-01AA024F27B2}"/>
              </a:ext>
            </a:extLst>
          </p:cNvPr>
          <p:cNvSpPr txBox="1"/>
          <p:nvPr/>
        </p:nvSpPr>
        <p:spPr>
          <a:xfrm>
            <a:off x="11408122" y="843874"/>
            <a:ext cx="1907082" cy="409541"/>
          </a:xfrm>
          <a:prstGeom prst="rect">
            <a:avLst/>
          </a:prstGeom>
        </p:spPr>
        <p:txBody>
          <a:bodyPr lIns="0" tIns="0" rIns="0" bIns="0" rtlCol="0" anchor="t">
            <a:spAutoFit/>
          </a:bodyPr>
          <a:lstStyle/>
          <a:p>
            <a:pPr marL="0" lvl="0" indent="0" algn="ctr">
              <a:lnSpc>
                <a:spcPts val="3151"/>
              </a:lnSpc>
              <a:spcBef>
                <a:spcPct val="0"/>
              </a:spcBef>
            </a:pPr>
            <a:r>
              <a:rPr lang="en-US" sz="2251">
                <a:solidFill>
                  <a:srgbClr val="FFFFFF"/>
                </a:solidFill>
                <a:latin typeface="Poppins"/>
                <a:ea typeface="Poppins"/>
                <a:cs typeface="Poppins"/>
                <a:sym typeface="Poppins"/>
              </a:rPr>
              <a:t>About</a:t>
            </a:r>
          </a:p>
        </p:txBody>
      </p:sp>
      <p:sp>
        <p:nvSpPr>
          <p:cNvPr id="6" name="TextBox 6">
            <a:extLst>
              <a:ext uri="{FF2B5EF4-FFF2-40B4-BE49-F238E27FC236}">
                <a16:creationId xmlns:a16="http://schemas.microsoft.com/office/drawing/2014/main" id="{85ED0C1E-1742-8AF0-7DFF-824C4E742045}"/>
              </a:ext>
            </a:extLst>
          </p:cNvPr>
          <p:cNvSpPr txBox="1"/>
          <p:nvPr/>
        </p:nvSpPr>
        <p:spPr>
          <a:xfrm>
            <a:off x="13726729" y="819695"/>
            <a:ext cx="1916881" cy="409541"/>
          </a:xfrm>
          <a:prstGeom prst="rect">
            <a:avLst/>
          </a:prstGeom>
        </p:spPr>
        <p:txBody>
          <a:bodyPr lIns="0" tIns="0" rIns="0" bIns="0" rtlCol="0" anchor="t">
            <a:spAutoFit/>
          </a:bodyPr>
          <a:lstStyle/>
          <a:p>
            <a:pPr marL="0" lvl="0" indent="0" algn="ctr">
              <a:lnSpc>
                <a:spcPts val="3151"/>
              </a:lnSpc>
              <a:spcBef>
                <a:spcPct val="0"/>
              </a:spcBef>
            </a:pPr>
            <a:r>
              <a:rPr lang="en-US" sz="2251" b="1">
                <a:solidFill>
                  <a:srgbClr val="FFFFFF"/>
                </a:solidFill>
                <a:latin typeface="Poppins Bold"/>
                <a:ea typeface="Poppins Bold"/>
                <a:cs typeface="Poppins Bold"/>
                <a:sym typeface="Poppins Bold"/>
              </a:rPr>
              <a:t>Content</a:t>
            </a:r>
          </a:p>
        </p:txBody>
      </p:sp>
      <p:sp>
        <p:nvSpPr>
          <p:cNvPr id="7" name="TextBox 7">
            <a:extLst>
              <a:ext uri="{FF2B5EF4-FFF2-40B4-BE49-F238E27FC236}">
                <a16:creationId xmlns:a16="http://schemas.microsoft.com/office/drawing/2014/main" id="{077A6321-4812-37A5-39E8-62B3EB3EB8EB}"/>
              </a:ext>
            </a:extLst>
          </p:cNvPr>
          <p:cNvSpPr txBox="1"/>
          <p:nvPr/>
        </p:nvSpPr>
        <p:spPr>
          <a:xfrm>
            <a:off x="15034325" y="841660"/>
            <a:ext cx="2224975"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Others</a:t>
            </a:r>
          </a:p>
        </p:txBody>
      </p:sp>
      <p:grpSp>
        <p:nvGrpSpPr>
          <p:cNvPr id="8" name="Group 8">
            <a:extLst>
              <a:ext uri="{FF2B5EF4-FFF2-40B4-BE49-F238E27FC236}">
                <a16:creationId xmlns:a16="http://schemas.microsoft.com/office/drawing/2014/main" id="{202629B7-58CB-E684-61BB-FAF065A1072D}"/>
              </a:ext>
            </a:extLst>
          </p:cNvPr>
          <p:cNvGrpSpPr/>
          <p:nvPr/>
        </p:nvGrpSpPr>
        <p:grpSpPr>
          <a:xfrm>
            <a:off x="803986" y="1851792"/>
            <a:ext cx="6657292" cy="5849788"/>
            <a:chOff x="0" y="0"/>
            <a:chExt cx="1659648" cy="1556868"/>
          </a:xfrm>
        </p:grpSpPr>
        <p:sp>
          <p:nvSpPr>
            <p:cNvPr id="9" name="Freeform 9">
              <a:extLst>
                <a:ext uri="{FF2B5EF4-FFF2-40B4-BE49-F238E27FC236}">
                  <a16:creationId xmlns:a16="http://schemas.microsoft.com/office/drawing/2014/main" id="{A2576FFC-3053-BA37-D99A-C6EBC1506B1C}"/>
                </a:ext>
              </a:extLst>
            </p:cNvPr>
            <p:cNvSpPr/>
            <p:nvPr/>
          </p:nvSpPr>
          <p:spPr>
            <a:xfrm>
              <a:off x="0" y="0"/>
              <a:ext cx="1659648" cy="1556868"/>
            </a:xfrm>
            <a:custGeom>
              <a:avLst/>
              <a:gdLst/>
              <a:ahLst/>
              <a:cxnLst/>
              <a:rect l="l" t="t" r="r" b="b"/>
              <a:pathLst>
                <a:path w="1659648" h="1556868">
                  <a:moveTo>
                    <a:pt x="68801" y="0"/>
                  </a:moveTo>
                  <a:lnTo>
                    <a:pt x="1590847" y="0"/>
                  </a:lnTo>
                  <a:cubicBezTo>
                    <a:pt x="1609094" y="0"/>
                    <a:pt x="1626594" y="7249"/>
                    <a:pt x="1639497" y="20151"/>
                  </a:cubicBezTo>
                  <a:cubicBezTo>
                    <a:pt x="1652399" y="33054"/>
                    <a:pt x="1659648" y="50554"/>
                    <a:pt x="1659648" y="68801"/>
                  </a:cubicBezTo>
                  <a:lnTo>
                    <a:pt x="1659648" y="1488067"/>
                  </a:lnTo>
                  <a:cubicBezTo>
                    <a:pt x="1659648" y="1506314"/>
                    <a:pt x="1652399" y="1523814"/>
                    <a:pt x="1639497" y="1536717"/>
                  </a:cubicBezTo>
                  <a:cubicBezTo>
                    <a:pt x="1626594" y="1549620"/>
                    <a:pt x="1609094" y="1556868"/>
                    <a:pt x="1590847" y="1556868"/>
                  </a:cubicBezTo>
                  <a:lnTo>
                    <a:pt x="68801" y="1556868"/>
                  </a:lnTo>
                  <a:cubicBezTo>
                    <a:pt x="50554" y="1556868"/>
                    <a:pt x="33054" y="1549620"/>
                    <a:pt x="20151" y="1536717"/>
                  </a:cubicBezTo>
                  <a:cubicBezTo>
                    <a:pt x="7249" y="1523814"/>
                    <a:pt x="0" y="1506314"/>
                    <a:pt x="0" y="1488067"/>
                  </a:cubicBezTo>
                  <a:lnTo>
                    <a:pt x="0" y="68801"/>
                  </a:lnTo>
                  <a:cubicBezTo>
                    <a:pt x="0" y="50554"/>
                    <a:pt x="7249" y="33054"/>
                    <a:pt x="20151" y="20151"/>
                  </a:cubicBezTo>
                  <a:cubicBezTo>
                    <a:pt x="33054" y="7249"/>
                    <a:pt x="50554" y="0"/>
                    <a:pt x="68801" y="0"/>
                  </a:cubicBezTo>
                  <a:close/>
                </a:path>
              </a:pathLst>
            </a:custGeom>
            <a:gradFill rotWithShape="1">
              <a:gsLst>
                <a:gs pos="0">
                  <a:srgbClr val="000000">
                    <a:alpha val="78000"/>
                  </a:srgbClr>
                </a:gs>
                <a:gs pos="100000">
                  <a:srgbClr val="DDDDDD">
                    <a:alpha val="14820"/>
                  </a:srgbClr>
                </a:gs>
              </a:gsLst>
              <a:lin ang="2700000"/>
            </a:gradFill>
          </p:spPr>
        </p:sp>
        <p:sp>
          <p:nvSpPr>
            <p:cNvPr id="10" name="TextBox 10">
              <a:extLst>
                <a:ext uri="{FF2B5EF4-FFF2-40B4-BE49-F238E27FC236}">
                  <a16:creationId xmlns:a16="http://schemas.microsoft.com/office/drawing/2014/main" id="{17D4E66A-FE6D-9407-EE0D-FBC4783E8CB1}"/>
                </a:ext>
              </a:extLst>
            </p:cNvPr>
            <p:cNvSpPr txBox="1"/>
            <p:nvPr/>
          </p:nvSpPr>
          <p:spPr>
            <a:xfrm>
              <a:off x="0" y="-66675"/>
              <a:ext cx="1659648" cy="1623543"/>
            </a:xfrm>
            <a:prstGeom prst="rect">
              <a:avLst/>
            </a:prstGeom>
          </p:spPr>
          <p:txBody>
            <a:bodyPr lIns="50800" tIns="50800" rIns="50800" bIns="50800" rtlCol="0" anchor="ctr"/>
            <a:lstStyle/>
            <a:p>
              <a:pPr algn="ctr">
                <a:lnSpc>
                  <a:spcPts val="3151"/>
                </a:lnSpc>
              </a:pPr>
              <a:endParaRPr/>
            </a:p>
          </p:txBody>
        </p:sp>
      </p:grpSp>
      <p:grpSp>
        <p:nvGrpSpPr>
          <p:cNvPr id="11" name="Group 11">
            <a:extLst>
              <a:ext uri="{FF2B5EF4-FFF2-40B4-BE49-F238E27FC236}">
                <a16:creationId xmlns:a16="http://schemas.microsoft.com/office/drawing/2014/main" id="{0CBD53AD-9753-C553-CE1E-9FA374DE6B2B}"/>
              </a:ext>
            </a:extLst>
          </p:cNvPr>
          <p:cNvGrpSpPr/>
          <p:nvPr/>
        </p:nvGrpSpPr>
        <p:grpSpPr>
          <a:xfrm>
            <a:off x="7703689" y="1851792"/>
            <a:ext cx="9783203" cy="5849788"/>
            <a:chOff x="0" y="0"/>
            <a:chExt cx="2576646" cy="1540685"/>
          </a:xfrm>
        </p:grpSpPr>
        <p:sp>
          <p:nvSpPr>
            <p:cNvPr id="12" name="Freeform 12">
              <a:extLst>
                <a:ext uri="{FF2B5EF4-FFF2-40B4-BE49-F238E27FC236}">
                  <a16:creationId xmlns:a16="http://schemas.microsoft.com/office/drawing/2014/main" id="{0FEC48ED-C10A-784B-78DB-2CDA63E50F0A}"/>
                </a:ext>
              </a:extLst>
            </p:cNvPr>
            <p:cNvSpPr/>
            <p:nvPr/>
          </p:nvSpPr>
          <p:spPr>
            <a:xfrm>
              <a:off x="0" y="0"/>
              <a:ext cx="2576646" cy="1540685"/>
            </a:xfrm>
            <a:custGeom>
              <a:avLst/>
              <a:gdLst/>
              <a:ahLst/>
              <a:cxnLst/>
              <a:rect l="l" t="t" r="r" b="b"/>
              <a:pathLst>
                <a:path w="2576646" h="1540685">
                  <a:moveTo>
                    <a:pt x="44315" y="0"/>
                  </a:moveTo>
                  <a:lnTo>
                    <a:pt x="2532331" y="0"/>
                  </a:lnTo>
                  <a:cubicBezTo>
                    <a:pt x="2556806" y="0"/>
                    <a:pt x="2576646" y="19841"/>
                    <a:pt x="2576646" y="44315"/>
                  </a:cubicBezTo>
                  <a:lnTo>
                    <a:pt x="2576646" y="1496370"/>
                  </a:lnTo>
                  <a:cubicBezTo>
                    <a:pt x="2576646" y="1508123"/>
                    <a:pt x="2571977" y="1519395"/>
                    <a:pt x="2563667" y="1527705"/>
                  </a:cubicBezTo>
                  <a:cubicBezTo>
                    <a:pt x="2555356" y="1536016"/>
                    <a:pt x="2544084" y="1540685"/>
                    <a:pt x="2532331" y="1540685"/>
                  </a:cubicBezTo>
                  <a:lnTo>
                    <a:pt x="44315" y="1540685"/>
                  </a:lnTo>
                  <a:cubicBezTo>
                    <a:pt x="32562" y="1540685"/>
                    <a:pt x="21290" y="1536016"/>
                    <a:pt x="12980" y="1527705"/>
                  </a:cubicBezTo>
                  <a:cubicBezTo>
                    <a:pt x="4669" y="1519395"/>
                    <a:pt x="0" y="1508123"/>
                    <a:pt x="0" y="1496370"/>
                  </a:cubicBezTo>
                  <a:lnTo>
                    <a:pt x="0" y="44315"/>
                  </a:lnTo>
                  <a:cubicBezTo>
                    <a:pt x="0" y="32562"/>
                    <a:pt x="4669" y="21290"/>
                    <a:pt x="12980" y="12980"/>
                  </a:cubicBezTo>
                  <a:cubicBezTo>
                    <a:pt x="21290" y="4669"/>
                    <a:pt x="32562" y="0"/>
                    <a:pt x="44315" y="0"/>
                  </a:cubicBezTo>
                  <a:close/>
                </a:path>
              </a:pathLst>
            </a:custGeom>
            <a:gradFill rotWithShape="1">
              <a:gsLst>
                <a:gs pos="0">
                  <a:srgbClr val="000F9B">
                    <a:alpha val="100000"/>
                  </a:srgbClr>
                </a:gs>
                <a:gs pos="50000">
                  <a:srgbClr val="EB0000">
                    <a:alpha val="100000"/>
                  </a:srgbClr>
                </a:gs>
                <a:gs pos="100000">
                  <a:srgbClr val="A000EB">
                    <a:alpha val="100000"/>
                  </a:srgbClr>
                </a:gs>
              </a:gsLst>
              <a:path path="circle">
                <a:fillToRect r="100000" b="100000"/>
              </a:path>
              <a:tileRect l="-100000" t="-100000"/>
            </a:gradFill>
          </p:spPr>
        </p:sp>
        <p:sp>
          <p:nvSpPr>
            <p:cNvPr id="13" name="TextBox 13">
              <a:extLst>
                <a:ext uri="{FF2B5EF4-FFF2-40B4-BE49-F238E27FC236}">
                  <a16:creationId xmlns:a16="http://schemas.microsoft.com/office/drawing/2014/main" id="{7145B967-B819-5ACB-B233-FAC934B5321C}"/>
                </a:ext>
              </a:extLst>
            </p:cNvPr>
            <p:cNvSpPr txBox="1"/>
            <p:nvPr/>
          </p:nvSpPr>
          <p:spPr>
            <a:xfrm>
              <a:off x="0" y="-66675"/>
              <a:ext cx="2576646" cy="1607360"/>
            </a:xfrm>
            <a:prstGeom prst="rect">
              <a:avLst/>
            </a:prstGeom>
          </p:spPr>
          <p:txBody>
            <a:bodyPr lIns="50800" tIns="50800" rIns="50800" bIns="50800" rtlCol="0" anchor="ctr"/>
            <a:lstStyle/>
            <a:p>
              <a:pPr algn="ctr">
                <a:lnSpc>
                  <a:spcPts val="3151"/>
                </a:lnSpc>
              </a:pPr>
              <a:endParaRPr/>
            </a:p>
          </p:txBody>
        </p:sp>
      </p:grpSp>
      <p:grpSp>
        <p:nvGrpSpPr>
          <p:cNvPr id="14" name="Group 14">
            <a:extLst>
              <a:ext uri="{FF2B5EF4-FFF2-40B4-BE49-F238E27FC236}">
                <a16:creationId xmlns:a16="http://schemas.microsoft.com/office/drawing/2014/main" id="{58019859-0824-DAE6-D7A0-DE76E170C435}"/>
              </a:ext>
            </a:extLst>
          </p:cNvPr>
          <p:cNvGrpSpPr/>
          <p:nvPr/>
        </p:nvGrpSpPr>
        <p:grpSpPr>
          <a:xfrm>
            <a:off x="803986" y="8293197"/>
            <a:ext cx="16682906" cy="1233630"/>
            <a:chOff x="0" y="0"/>
            <a:chExt cx="4393852" cy="324907"/>
          </a:xfrm>
        </p:grpSpPr>
        <p:sp>
          <p:nvSpPr>
            <p:cNvPr id="15" name="Freeform 15">
              <a:extLst>
                <a:ext uri="{FF2B5EF4-FFF2-40B4-BE49-F238E27FC236}">
                  <a16:creationId xmlns:a16="http://schemas.microsoft.com/office/drawing/2014/main" id="{9F532AA0-E21D-0E5C-B357-E7178C224BC8}"/>
                </a:ext>
              </a:extLst>
            </p:cNvPr>
            <p:cNvSpPr/>
            <p:nvPr/>
          </p:nvSpPr>
          <p:spPr>
            <a:xfrm>
              <a:off x="0" y="0"/>
              <a:ext cx="4393852" cy="324907"/>
            </a:xfrm>
            <a:custGeom>
              <a:avLst/>
              <a:gdLst/>
              <a:ahLst/>
              <a:cxnLst/>
              <a:rect l="l" t="t" r="r" b="b"/>
              <a:pathLst>
                <a:path w="4393852" h="324907">
                  <a:moveTo>
                    <a:pt x="21811" y="0"/>
                  </a:moveTo>
                  <a:lnTo>
                    <a:pt x="4372041" y="0"/>
                  </a:lnTo>
                  <a:cubicBezTo>
                    <a:pt x="4384087" y="0"/>
                    <a:pt x="4393852" y="9765"/>
                    <a:pt x="4393852" y="21811"/>
                  </a:cubicBezTo>
                  <a:lnTo>
                    <a:pt x="4393852" y="303096"/>
                  </a:lnTo>
                  <a:cubicBezTo>
                    <a:pt x="4393852" y="315142"/>
                    <a:pt x="4384087" y="324907"/>
                    <a:pt x="4372041" y="324907"/>
                  </a:cubicBezTo>
                  <a:lnTo>
                    <a:pt x="21811" y="324907"/>
                  </a:lnTo>
                  <a:cubicBezTo>
                    <a:pt x="9765" y="324907"/>
                    <a:pt x="0" y="315142"/>
                    <a:pt x="0" y="303096"/>
                  </a:cubicBezTo>
                  <a:lnTo>
                    <a:pt x="0" y="21811"/>
                  </a:lnTo>
                  <a:cubicBezTo>
                    <a:pt x="0" y="9765"/>
                    <a:pt x="9765" y="0"/>
                    <a:pt x="21811" y="0"/>
                  </a:cubicBezTo>
                  <a:close/>
                </a:path>
              </a:pathLst>
            </a:custGeom>
            <a:solidFill>
              <a:srgbClr val="000000">
                <a:alpha val="0"/>
              </a:srgbClr>
            </a:solidFill>
            <a:ln w="28575" cap="rnd">
              <a:solidFill>
                <a:srgbClr val="FFFFFF"/>
              </a:solidFill>
              <a:prstDash val="solid"/>
              <a:round/>
            </a:ln>
          </p:spPr>
        </p:sp>
        <p:sp>
          <p:nvSpPr>
            <p:cNvPr id="16" name="TextBox 16">
              <a:extLst>
                <a:ext uri="{FF2B5EF4-FFF2-40B4-BE49-F238E27FC236}">
                  <a16:creationId xmlns:a16="http://schemas.microsoft.com/office/drawing/2014/main" id="{37DB25CF-80DF-5680-CDC5-94D439970417}"/>
                </a:ext>
              </a:extLst>
            </p:cNvPr>
            <p:cNvSpPr txBox="1"/>
            <p:nvPr/>
          </p:nvSpPr>
          <p:spPr>
            <a:xfrm>
              <a:off x="0" y="-66675"/>
              <a:ext cx="4393852" cy="391582"/>
            </a:xfrm>
            <a:prstGeom prst="rect">
              <a:avLst/>
            </a:prstGeom>
          </p:spPr>
          <p:txBody>
            <a:bodyPr lIns="50800" tIns="50800" rIns="50800" bIns="50800" rtlCol="0" anchor="ctr"/>
            <a:lstStyle/>
            <a:p>
              <a:pPr algn="ctr">
                <a:lnSpc>
                  <a:spcPts val="3151"/>
                </a:lnSpc>
              </a:pPr>
              <a:endParaRPr/>
            </a:p>
          </p:txBody>
        </p:sp>
      </p:grpSp>
      <p:sp>
        <p:nvSpPr>
          <p:cNvPr id="22" name="TextBox 21">
            <a:extLst>
              <a:ext uri="{FF2B5EF4-FFF2-40B4-BE49-F238E27FC236}">
                <a16:creationId xmlns:a16="http://schemas.microsoft.com/office/drawing/2014/main" id="{22F670D0-ABB0-9001-B34C-44D5EFC8CBCE}"/>
              </a:ext>
            </a:extLst>
          </p:cNvPr>
          <p:cNvSpPr txBox="1"/>
          <p:nvPr/>
        </p:nvSpPr>
        <p:spPr>
          <a:xfrm>
            <a:off x="8252519" y="2791527"/>
            <a:ext cx="8685541" cy="3970318"/>
          </a:xfrm>
          <a:prstGeom prst="rect">
            <a:avLst/>
          </a:prstGeom>
          <a:noFill/>
        </p:spPr>
        <p:txBody>
          <a:bodyPr wrap="square" rtlCol="0">
            <a:spAutoFit/>
          </a:bodyPr>
          <a:lstStyle/>
          <a:p>
            <a:r>
              <a:rPr lang="en-US" b="1" dirty="0">
                <a:solidFill>
                  <a:schemeClr val="bg1"/>
                </a:solidFill>
              </a:rPr>
              <a:t>Key Insights</a:t>
            </a: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Cashback Drives Profit:</a:t>
            </a:r>
            <a:r>
              <a:rPr lang="en-US" dirty="0">
                <a:solidFill>
                  <a:schemeClr val="bg1"/>
                </a:solidFill>
              </a:rPr>
              <a:t> The ₹500 Cashback scheme generates the highest Incremental Revenue (&gt;120%), making it the most profitable promotion.</a:t>
            </a:r>
          </a:p>
          <a:p>
            <a:pPr marL="285750" indent="-285750">
              <a:buFont typeface="Arial" panose="020B0604020202020204" pitchFamily="34" charset="0"/>
              <a:buChar char="•"/>
            </a:pPr>
            <a:r>
              <a:rPr lang="en-US" b="1" dirty="0">
                <a:solidFill>
                  <a:schemeClr val="bg1"/>
                </a:solidFill>
              </a:rPr>
              <a:t>BOGOF Drives Volume:</a:t>
            </a:r>
            <a:r>
              <a:rPr lang="en-US" dirty="0">
                <a:solidFill>
                  <a:schemeClr val="bg1"/>
                </a:solidFill>
              </a:rPr>
              <a:t> The BOGOF (Buy One Get One Free) scheme achieves the highest Incremental Sold Units (&gt;250%), prioritizing volume over revenue efficiency.</a:t>
            </a:r>
          </a:p>
          <a:p>
            <a:pPr marL="285750" indent="-285750">
              <a:buFont typeface="Arial" panose="020B0604020202020204" pitchFamily="34" charset="0"/>
              <a:buChar char="•"/>
            </a:pPr>
            <a:r>
              <a:rPr lang="en-US" b="1" dirty="0">
                <a:solidFill>
                  <a:schemeClr val="bg1"/>
                </a:solidFill>
              </a:rPr>
              <a:t>Deep Discounts Fail Revenue:</a:t>
            </a:r>
            <a:r>
              <a:rPr lang="en-US" dirty="0">
                <a:solidFill>
                  <a:schemeClr val="bg1"/>
                </a:solidFill>
              </a:rPr>
              <a:t> Both the 50% OFF and 25% OFF schemes result in negative Incremental Revenue, indicating significant profit erosion despite some sales lift.</a:t>
            </a:r>
          </a:p>
          <a:p>
            <a:endParaRPr lang="en-US" dirty="0">
              <a:solidFill>
                <a:schemeClr val="bg1"/>
              </a:solidFill>
            </a:endParaRPr>
          </a:p>
          <a:p>
            <a:r>
              <a:rPr lang="en-US" b="1" dirty="0">
                <a:solidFill>
                  <a:schemeClr val="bg1"/>
                </a:solidFill>
              </a:rPr>
              <a:t>Recommendations</a:t>
            </a: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Prioritize Cashback:</a:t>
            </a:r>
            <a:r>
              <a:rPr lang="en-US" dirty="0">
                <a:solidFill>
                  <a:schemeClr val="bg1"/>
                </a:solidFill>
              </a:rPr>
              <a:t> Make the ₹500 Cashback promotion the primary strategic push to maximize profitable growth in Hyderabad.</a:t>
            </a:r>
          </a:p>
          <a:p>
            <a:pPr marL="285750" indent="-285750">
              <a:buFont typeface="Arial" panose="020B0604020202020204" pitchFamily="34" charset="0"/>
              <a:buChar char="•"/>
            </a:pPr>
            <a:r>
              <a:rPr lang="en-US" b="1" dirty="0">
                <a:solidFill>
                  <a:schemeClr val="bg1"/>
                </a:solidFill>
              </a:rPr>
              <a:t>Eliminate Low Discounts:</a:t>
            </a:r>
            <a:r>
              <a:rPr lang="en-US" dirty="0">
                <a:solidFill>
                  <a:schemeClr val="bg1"/>
                </a:solidFill>
              </a:rPr>
              <a:t> Discontinue or drastically revise the 25% OFF and 50% OFF schemes immediately due to their severely negative impact on incremental revenue.</a:t>
            </a:r>
          </a:p>
        </p:txBody>
      </p:sp>
      <p:pic>
        <p:nvPicPr>
          <p:cNvPr id="24" name="Picture 23">
            <a:extLst>
              <a:ext uri="{FF2B5EF4-FFF2-40B4-BE49-F238E27FC236}">
                <a16:creationId xmlns:a16="http://schemas.microsoft.com/office/drawing/2014/main" id="{C6BA5CE0-506D-CC17-A4A3-066BDFEAF06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57895" y="3924300"/>
            <a:ext cx="5901408" cy="3538446"/>
          </a:xfrm>
          <a:prstGeom prst="rect">
            <a:avLst/>
          </a:prstGeom>
        </p:spPr>
      </p:pic>
      <p:sp>
        <p:nvSpPr>
          <p:cNvPr id="25" name="TextBox 24">
            <a:extLst>
              <a:ext uri="{FF2B5EF4-FFF2-40B4-BE49-F238E27FC236}">
                <a16:creationId xmlns:a16="http://schemas.microsoft.com/office/drawing/2014/main" id="{C06A5A0F-3DD9-A6E8-611D-15AC0DB6F170}"/>
              </a:ext>
            </a:extLst>
          </p:cNvPr>
          <p:cNvSpPr txBox="1"/>
          <p:nvPr/>
        </p:nvSpPr>
        <p:spPr>
          <a:xfrm>
            <a:off x="1153316" y="2010883"/>
            <a:ext cx="5792054" cy="1754326"/>
          </a:xfrm>
          <a:prstGeom prst="rect">
            <a:avLst/>
          </a:prstGeom>
          <a:noFill/>
        </p:spPr>
        <p:txBody>
          <a:bodyPr wrap="square" rtlCol="0">
            <a:spAutoFit/>
          </a:bodyPr>
          <a:lstStyle/>
          <a:p>
            <a:r>
              <a:rPr lang="en-US" dirty="0">
                <a:solidFill>
                  <a:schemeClr val="bg1"/>
                </a:solidFill>
              </a:rPr>
              <a:t>6. Analyze the relationship between incremental revenue and incremental sold units for different promotion types in Hyderabad. Which promotion type led to the highest incremental sold units, and which one generated the highest incremental revenue? What insights can you draw from the balance between the two metrics for this city?</a:t>
            </a:r>
            <a:endParaRPr lang="en-IN" dirty="0">
              <a:solidFill>
                <a:schemeClr val="bg1"/>
              </a:solidFill>
            </a:endParaRPr>
          </a:p>
        </p:txBody>
      </p:sp>
      <p:sp>
        <p:nvSpPr>
          <p:cNvPr id="26" name="TextBox 25">
            <a:extLst>
              <a:ext uri="{FF2B5EF4-FFF2-40B4-BE49-F238E27FC236}">
                <a16:creationId xmlns:a16="http://schemas.microsoft.com/office/drawing/2014/main" id="{51390BC0-1265-463F-645F-8FA557360542}"/>
              </a:ext>
            </a:extLst>
          </p:cNvPr>
          <p:cNvSpPr txBox="1"/>
          <p:nvPr/>
        </p:nvSpPr>
        <p:spPr>
          <a:xfrm>
            <a:off x="1061357" y="8494513"/>
            <a:ext cx="15963900" cy="830997"/>
          </a:xfrm>
          <a:prstGeom prst="rect">
            <a:avLst/>
          </a:prstGeom>
          <a:noFill/>
        </p:spPr>
        <p:txBody>
          <a:bodyPr wrap="square" rtlCol="0">
            <a:spAutoFit/>
          </a:bodyPr>
          <a:lstStyle/>
          <a:p>
            <a:r>
              <a:rPr lang="en-US" sz="2400" b="1" dirty="0">
                <a:solidFill>
                  <a:schemeClr val="bg1"/>
                </a:solidFill>
              </a:rPr>
              <a:t>Conclusion: </a:t>
            </a:r>
            <a:r>
              <a:rPr lang="en-US" sz="2400" dirty="0">
                <a:solidFill>
                  <a:schemeClr val="bg1"/>
                </a:solidFill>
              </a:rPr>
              <a:t>In Hyderabad, fixed-value incentives (Cashback) and high-volume mechanics (BOGOF) successfully drive growth, while traditional percentage-off discounts severely erode incremental profitability.</a:t>
            </a:r>
          </a:p>
        </p:txBody>
      </p:sp>
    </p:spTree>
    <p:extLst>
      <p:ext uri="{BB962C8B-B14F-4D97-AF65-F5344CB8AC3E}">
        <p14:creationId xmlns:p14="http://schemas.microsoft.com/office/powerpoint/2010/main" val="1140618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DDF176B6-5F48-CAD9-294A-49C4D3FDBC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D7F4DFA-576C-A606-5D30-C04D5BA80E94}"/>
              </a:ext>
            </a:extLst>
          </p:cNvPr>
          <p:cNvSpPr/>
          <p:nvPr/>
        </p:nvSpPr>
        <p:spPr>
          <a:xfrm>
            <a:off x="803986" y="803986"/>
            <a:ext cx="449429" cy="449429"/>
          </a:xfrm>
          <a:custGeom>
            <a:avLst/>
            <a:gdLst/>
            <a:ahLst/>
            <a:cxnLst/>
            <a:rect l="l" t="t" r="r" b="b"/>
            <a:pathLst>
              <a:path w="449429" h="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a:extLst>
              <a:ext uri="{FF2B5EF4-FFF2-40B4-BE49-F238E27FC236}">
                <a16:creationId xmlns:a16="http://schemas.microsoft.com/office/drawing/2014/main" id="{BC6707C2-1EB3-D5C5-AC9A-3CFBFB7C3C53}"/>
              </a:ext>
            </a:extLst>
          </p:cNvPr>
          <p:cNvSpPr txBox="1"/>
          <p:nvPr/>
        </p:nvSpPr>
        <p:spPr>
          <a:xfrm>
            <a:off x="1363845" y="768097"/>
            <a:ext cx="2685498" cy="409023"/>
          </a:xfrm>
          <a:prstGeom prst="rect">
            <a:avLst/>
          </a:prstGeom>
        </p:spPr>
        <p:txBody>
          <a:bodyPr lIns="0" tIns="0" rIns="0" bIns="0" rtlCol="0" anchor="t">
            <a:spAutoFit/>
          </a:bodyPr>
          <a:lstStyle/>
          <a:p>
            <a:pPr>
              <a:lnSpc>
                <a:spcPts val="3391"/>
              </a:lnSpc>
              <a:spcBef>
                <a:spcPct val="0"/>
              </a:spcBef>
            </a:pPr>
            <a:r>
              <a:rPr lang="en-US" sz="2422" b="1" spc="-109" dirty="0">
                <a:solidFill>
                  <a:srgbClr val="FFFFFF"/>
                </a:solidFill>
                <a:latin typeface="Telegraf Bold"/>
                <a:ea typeface="Telegraf Bold"/>
                <a:cs typeface="Telegraf Bold"/>
                <a:sym typeface="Telegraf Bold"/>
              </a:rPr>
              <a:t>Nova Mart</a:t>
            </a:r>
          </a:p>
        </p:txBody>
      </p:sp>
      <p:sp>
        <p:nvSpPr>
          <p:cNvPr id="4" name="TextBox 4">
            <a:extLst>
              <a:ext uri="{FF2B5EF4-FFF2-40B4-BE49-F238E27FC236}">
                <a16:creationId xmlns:a16="http://schemas.microsoft.com/office/drawing/2014/main" id="{2E321190-B078-81EC-7125-C2A121005011}"/>
              </a:ext>
            </a:extLst>
          </p:cNvPr>
          <p:cNvSpPr txBox="1"/>
          <p:nvPr/>
        </p:nvSpPr>
        <p:spPr>
          <a:xfrm>
            <a:off x="9144000" y="841660"/>
            <a:ext cx="1662550"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Home</a:t>
            </a:r>
          </a:p>
        </p:txBody>
      </p:sp>
      <p:sp>
        <p:nvSpPr>
          <p:cNvPr id="5" name="TextBox 5">
            <a:extLst>
              <a:ext uri="{FF2B5EF4-FFF2-40B4-BE49-F238E27FC236}">
                <a16:creationId xmlns:a16="http://schemas.microsoft.com/office/drawing/2014/main" id="{9770DE9F-B99D-0790-129D-24AE06B82691}"/>
              </a:ext>
            </a:extLst>
          </p:cNvPr>
          <p:cNvSpPr txBox="1"/>
          <p:nvPr/>
        </p:nvSpPr>
        <p:spPr>
          <a:xfrm>
            <a:off x="11408122" y="843874"/>
            <a:ext cx="1907082" cy="409541"/>
          </a:xfrm>
          <a:prstGeom prst="rect">
            <a:avLst/>
          </a:prstGeom>
        </p:spPr>
        <p:txBody>
          <a:bodyPr lIns="0" tIns="0" rIns="0" bIns="0" rtlCol="0" anchor="t">
            <a:spAutoFit/>
          </a:bodyPr>
          <a:lstStyle/>
          <a:p>
            <a:pPr marL="0" lvl="0" indent="0" algn="ctr">
              <a:lnSpc>
                <a:spcPts val="3151"/>
              </a:lnSpc>
              <a:spcBef>
                <a:spcPct val="0"/>
              </a:spcBef>
            </a:pPr>
            <a:r>
              <a:rPr lang="en-US" sz="2251">
                <a:solidFill>
                  <a:srgbClr val="FFFFFF"/>
                </a:solidFill>
                <a:latin typeface="Poppins"/>
                <a:ea typeface="Poppins"/>
                <a:cs typeface="Poppins"/>
                <a:sym typeface="Poppins"/>
              </a:rPr>
              <a:t>About</a:t>
            </a:r>
          </a:p>
        </p:txBody>
      </p:sp>
      <p:sp>
        <p:nvSpPr>
          <p:cNvPr id="6" name="TextBox 6">
            <a:extLst>
              <a:ext uri="{FF2B5EF4-FFF2-40B4-BE49-F238E27FC236}">
                <a16:creationId xmlns:a16="http://schemas.microsoft.com/office/drawing/2014/main" id="{0A24746C-A756-7C10-8C9B-85FBCA8060EA}"/>
              </a:ext>
            </a:extLst>
          </p:cNvPr>
          <p:cNvSpPr txBox="1"/>
          <p:nvPr/>
        </p:nvSpPr>
        <p:spPr>
          <a:xfrm>
            <a:off x="13726729" y="819695"/>
            <a:ext cx="1916881" cy="409541"/>
          </a:xfrm>
          <a:prstGeom prst="rect">
            <a:avLst/>
          </a:prstGeom>
        </p:spPr>
        <p:txBody>
          <a:bodyPr lIns="0" tIns="0" rIns="0" bIns="0" rtlCol="0" anchor="t">
            <a:spAutoFit/>
          </a:bodyPr>
          <a:lstStyle/>
          <a:p>
            <a:pPr marL="0" lvl="0" indent="0" algn="ctr">
              <a:lnSpc>
                <a:spcPts val="3151"/>
              </a:lnSpc>
              <a:spcBef>
                <a:spcPct val="0"/>
              </a:spcBef>
            </a:pPr>
            <a:r>
              <a:rPr lang="en-US" sz="2251" b="1">
                <a:solidFill>
                  <a:srgbClr val="FFFFFF"/>
                </a:solidFill>
                <a:latin typeface="Poppins Bold"/>
                <a:ea typeface="Poppins Bold"/>
                <a:cs typeface="Poppins Bold"/>
                <a:sym typeface="Poppins Bold"/>
              </a:rPr>
              <a:t>Content</a:t>
            </a:r>
          </a:p>
        </p:txBody>
      </p:sp>
      <p:sp>
        <p:nvSpPr>
          <p:cNvPr id="7" name="TextBox 7">
            <a:extLst>
              <a:ext uri="{FF2B5EF4-FFF2-40B4-BE49-F238E27FC236}">
                <a16:creationId xmlns:a16="http://schemas.microsoft.com/office/drawing/2014/main" id="{663EB5FF-C351-277D-97BB-032696CB3BAD}"/>
              </a:ext>
            </a:extLst>
          </p:cNvPr>
          <p:cNvSpPr txBox="1"/>
          <p:nvPr/>
        </p:nvSpPr>
        <p:spPr>
          <a:xfrm>
            <a:off x="15034325" y="841660"/>
            <a:ext cx="2224975" cy="409541"/>
          </a:xfrm>
          <a:prstGeom prst="rect">
            <a:avLst/>
          </a:prstGeom>
        </p:spPr>
        <p:txBody>
          <a:bodyPr lIns="0" tIns="0" rIns="0" bIns="0" rtlCol="0" anchor="t">
            <a:spAutoFit/>
          </a:bodyPr>
          <a:lstStyle/>
          <a:p>
            <a:pPr marL="0" lvl="0" indent="0" algn="r">
              <a:lnSpc>
                <a:spcPts val="3151"/>
              </a:lnSpc>
              <a:spcBef>
                <a:spcPct val="0"/>
              </a:spcBef>
            </a:pPr>
            <a:r>
              <a:rPr lang="en-US" sz="2251">
                <a:solidFill>
                  <a:srgbClr val="FFFFFF"/>
                </a:solidFill>
                <a:latin typeface="Poppins"/>
                <a:ea typeface="Poppins"/>
                <a:cs typeface="Poppins"/>
                <a:sym typeface="Poppins"/>
              </a:rPr>
              <a:t>Others</a:t>
            </a:r>
          </a:p>
        </p:txBody>
      </p:sp>
      <p:grpSp>
        <p:nvGrpSpPr>
          <p:cNvPr id="8" name="Group 8">
            <a:extLst>
              <a:ext uri="{FF2B5EF4-FFF2-40B4-BE49-F238E27FC236}">
                <a16:creationId xmlns:a16="http://schemas.microsoft.com/office/drawing/2014/main" id="{A14677B1-9648-A178-713E-16681809C0EA}"/>
              </a:ext>
            </a:extLst>
          </p:cNvPr>
          <p:cNvGrpSpPr/>
          <p:nvPr/>
        </p:nvGrpSpPr>
        <p:grpSpPr>
          <a:xfrm>
            <a:off x="803986" y="1851792"/>
            <a:ext cx="6657292" cy="5849788"/>
            <a:chOff x="0" y="0"/>
            <a:chExt cx="1659648" cy="1556868"/>
          </a:xfrm>
        </p:grpSpPr>
        <p:sp>
          <p:nvSpPr>
            <p:cNvPr id="9" name="Freeform 9">
              <a:extLst>
                <a:ext uri="{FF2B5EF4-FFF2-40B4-BE49-F238E27FC236}">
                  <a16:creationId xmlns:a16="http://schemas.microsoft.com/office/drawing/2014/main" id="{C50A96C2-2262-79FE-E26D-8CCBDDC86A2B}"/>
                </a:ext>
              </a:extLst>
            </p:cNvPr>
            <p:cNvSpPr/>
            <p:nvPr/>
          </p:nvSpPr>
          <p:spPr>
            <a:xfrm>
              <a:off x="0" y="0"/>
              <a:ext cx="1659648" cy="1556868"/>
            </a:xfrm>
            <a:custGeom>
              <a:avLst/>
              <a:gdLst/>
              <a:ahLst/>
              <a:cxnLst/>
              <a:rect l="l" t="t" r="r" b="b"/>
              <a:pathLst>
                <a:path w="1659648" h="1556868">
                  <a:moveTo>
                    <a:pt x="68801" y="0"/>
                  </a:moveTo>
                  <a:lnTo>
                    <a:pt x="1590847" y="0"/>
                  </a:lnTo>
                  <a:cubicBezTo>
                    <a:pt x="1609094" y="0"/>
                    <a:pt x="1626594" y="7249"/>
                    <a:pt x="1639497" y="20151"/>
                  </a:cubicBezTo>
                  <a:cubicBezTo>
                    <a:pt x="1652399" y="33054"/>
                    <a:pt x="1659648" y="50554"/>
                    <a:pt x="1659648" y="68801"/>
                  </a:cubicBezTo>
                  <a:lnTo>
                    <a:pt x="1659648" y="1488067"/>
                  </a:lnTo>
                  <a:cubicBezTo>
                    <a:pt x="1659648" y="1506314"/>
                    <a:pt x="1652399" y="1523814"/>
                    <a:pt x="1639497" y="1536717"/>
                  </a:cubicBezTo>
                  <a:cubicBezTo>
                    <a:pt x="1626594" y="1549620"/>
                    <a:pt x="1609094" y="1556868"/>
                    <a:pt x="1590847" y="1556868"/>
                  </a:cubicBezTo>
                  <a:lnTo>
                    <a:pt x="68801" y="1556868"/>
                  </a:lnTo>
                  <a:cubicBezTo>
                    <a:pt x="50554" y="1556868"/>
                    <a:pt x="33054" y="1549620"/>
                    <a:pt x="20151" y="1536717"/>
                  </a:cubicBezTo>
                  <a:cubicBezTo>
                    <a:pt x="7249" y="1523814"/>
                    <a:pt x="0" y="1506314"/>
                    <a:pt x="0" y="1488067"/>
                  </a:cubicBezTo>
                  <a:lnTo>
                    <a:pt x="0" y="68801"/>
                  </a:lnTo>
                  <a:cubicBezTo>
                    <a:pt x="0" y="50554"/>
                    <a:pt x="7249" y="33054"/>
                    <a:pt x="20151" y="20151"/>
                  </a:cubicBezTo>
                  <a:cubicBezTo>
                    <a:pt x="33054" y="7249"/>
                    <a:pt x="50554" y="0"/>
                    <a:pt x="68801" y="0"/>
                  </a:cubicBezTo>
                  <a:close/>
                </a:path>
              </a:pathLst>
            </a:custGeom>
            <a:gradFill rotWithShape="1">
              <a:gsLst>
                <a:gs pos="0">
                  <a:srgbClr val="000000">
                    <a:alpha val="78000"/>
                  </a:srgbClr>
                </a:gs>
                <a:gs pos="100000">
                  <a:srgbClr val="DDDDDD">
                    <a:alpha val="14820"/>
                  </a:srgbClr>
                </a:gs>
              </a:gsLst>
              <a:lin ang="2700000"/>
            </a:gradFill>
          </p:spPr>
        </p:sp>
        <p:sp>
          <p:nvSpPr>
            <p:cNvPr id="10" name="TextBox 10">
              <a:extLst>
                <a:ext uri="{FF2B5EF4-FFF2-40B4-BE49-F238E27FC236}">
                  <a16:creationId xmlns:a16="http://schemas.microsoft.com/office/drawing/2014/main" id="{D68EC940-7527-A897-3154-B3F78B8102BB}"/>
                </a:ext>
              </a:extLst>
            </p:cNvPr>
            <p:cNvSpPr txBox="1"/>
            <p:nvPr/>
          </p:nvSpPr>
          <p:spPr>
            <a:xfrm>
              <a:off x="0" y="-66675"/>
              <a:ext cx="1659648" cy="1623543"/>
            </a:xfrm>
            <a:prstGeom prst="rect">
              <a:avLst/>
            </a:prstGeom>
          </p:spPr>
          <p:txBody>
            <a:bodyPr lIns="50800" tIns="50800" rIns="50800" bIns="50800" rtlCol="0" anchor="ctr"/>
            <a:lstStyle/>
            <a:p>
              <a:pPr algn="ctr">
                <a:lnSpc>
                  <a:spcPts val="3151"/>
                </a:lnSpc>
              </a:pPr>
              <a:endParaRPr/>
            </a:p>
          </p:txBody>
        </p:sp>
      </p:grpSp>
      <p:grpSp>
        <p:nvGrpSpPr>
          <p:cNvPr id="11" name="Group 11">
            <a:extLst>
              <a:ext uri="{FF2B5EF4-FFF2-40B4-BE49-F238E27FC236}">
                <a16:creationId xmlns:a16="http://schemas.microsoft.com/office/drawing/2014/main" id="{C9562309-A461-0859-AFCF-5386942436A5}"/>
              </a:ext>
            </a:extLst>
          </p:cNvPr>
          <p:cNvGrpSpPr/>
          <p:nvPr/>
        </p:nvGrpSpPr>
        <p:grpSpPr>
          <a:xfrm>
            <a:off x="7703689" y="1851792"/>
            <a:ext cx="9783203" cy="5849788"/>
            <a:chOff x="0" y="0"/>
            <a:chExt cx="2576646" cy="1540685"/>
          </a:xfrm>
        </p:grpSpPr>
        <p:sp>
          <p:nvSpPr>
            <p:cNvPr id="12" name="Freeform 12">
              <a:extLst>
                <a:ext uri="{FF2B5EF4-FFF2-40B4-BE49-F238E27FC236}">
                  <a16:creationId xmlns:a16="http://schemas.microsoft.com/office/drawing/2014/main" id="{CC283B26-0CBB-9BA3-9AC7-63DDD910FD00}"/>
                </a:ext>
              </a:extLst>
            </p:cNvPr>
            <p:cNvSpPr/>
            <p:nvPr/>
          </p:nvSpPr>
          <p:spPr>
            <a:xfrm>
              <a:off x="0" y="0"/>
              <a:ext cx="2576646" cy="1540685"/>
            </a:xfrm>
            <a:custGeom>
              <a:avLst/>
              <a:gdLst/>
              <a:ahLst/>
              <a:cxnLst/>
              <a:rect l="l" t="t" r="r" b="b"/>
              <a:pathLst>
                <a:path w="2576646" h="1540685">
                  <a:moveTo>
                    <a:pt x="44315" y="0"/>
                  </a:moveTo>
                  <a:lnTo>
                    <a:pt x="2532331" y="0"/>
                  </a:lnTo>
                  <a:cubicBezTo>
                    <a:pt x="2556806" y="0"/>
                    <a:pt x="2576646" y="19841"/>
                    <a:pt x="2576646" y="44315"/>
                  </a:cubicBezTo>
                  <a:lnTo>
                    <a:pt x="2576646" y="1496370"/>
                  </a:lnTo>
                  <a:cubicBezTo>
                    <a:pt x="2576646" y="1508123"/>
                    <a:pt x="2571977" y="1519395"/>
                    <a:pt x="2563667" y="1527705"/>
                  </a:cubicBezTo>
                  <a:cubicBezTo>
                    <a:pt x="2555356" y="1536016"/>
                    <a:pt x="2544084" y="1540685"/>
                    <a:pt x="2532331" y="1540685"/>
                  </a:cubicBezTo>
                  <a:lnTo>
                    <a:pt x="44315" y="1540685"/>
                  </a:lnTo>
                  <a:cubicBezTo>
                    <a:pt x="32562" y="1540685"/>
                    <a:pt x="21290" y="1536016"/>
                    <a:pt x="12980" y="1527705"/>
                  </a:cubicBezTo>
                  <a:cubicBezTo>
                    <a:pt x="4669" y="1519395"/>
                    <a:pt x="0" y="1508123"/>
                    <a:pt x="0" y="1496370"/>
                  </a:cubicBezTo>
                  <a:lnTo>
                    <a:pt x="0" y="44315"/>
                  </a:lnTo>
                  <a:cubicBezTo>
                    <a:pt x="0" y="32562"/>
                    <a:pt x="4669" y="21290"/>
                    <a:pt x="12980" y="12980"/>
                  </a:cubicBezTo>
                  <a:cubicBezTo>
                    <a:pt x="21290" y="4669"/>
                    <a:pt x="32562" y="0"/>
                    <a:pt x="44315" y="0"/>
                  </a:cubicBezTo>
                  <a:close/>
                </a:path>
              </a:pathLst>
            </a:custGeom>
            <a:gradFill rotWithShape="1">
              <a:gsLst>
                <a:gs pos="0">
                  <a:srgbClr val="000F9B">
                    <a:alpha val="100000"/>
                  </a:srgbClr>
                </a:gs>
                <a:gs pos="50000">
                  <a:srgbClr val="EB0000">
                    <a:alpha val="100000"/>
                  </a:srgbClr>
                </a:gs>
                <a:gs pos="100000">
                  <a:srgbClr val="A000EB">
                    <a:alpha val="100000"/>
                  </a:srgbClr>
                </a:gs>
              </a:gsLst>
              <a:path path="circle">
                <a:fillToRect r="100000" b="100000"/>
              </a:path>
              <a:tileRect l="-100000" t="-100000"/>
            </a:gradFill>
          </p:spPr>
        </p:sp>
        <p:sp>
          <p:nvSpPr>
            <p:cNvPr id="13" name="TextBox 13">
              <a:extLst>
                <a:ext uri="{FF2B5EF4-FFF2-40B4-BE49-F238E27FC236}">
                  <a16:creationId xmlns:a16="http://schemas.microsoft.com/office/drawing/2014/main" id="{810E78EE-3E50-69EB-65EF-71852E1B3355}"/>
                </a:ext>
              </a:extLst>
            </p:cNvPr>
            <p:cNvSpPr txBox="1"/>
            <p:nvPr/>
          </p:nvSpPr>
          <p:spPr>
            <a:xfrm>
              <a:off x="0" y="-66675"/>
              <a:ext cx="2576646" cy="1607360"/>
            </a:xfrm>
            <a:prstGeom prst="rect">
              <a:avLst/>
            </a:prstGeom>
          </p:spPr>
          <p:txBody>
            <a:bodyPr lIns="50800" tIns="50800" rIns="50800" bIns="50800" rtlCol="0" anchor="ctr"/>
            <a:lstStyle/>
            <a:p>
              <a:pPr algn="ctr">
                <a:lnSpc>
                  <a:spcPts val="3151"/>
                </a:lnSpc>
              </a:pPr>
              <a:endParaRPr/>
            </a:p>
          </p:txBody>
        </p:sp>
      </p:grpSp>
      <p:grpSp>
        <p:nvGrpSpPr>
          <p:cNvPr id="14" name="Group 14">
            <a:extLst>
              <a:ext uri="{FF2B5EF4-FFF2-40B4-BE49-F238E27FC236}">
                <a16:creationId xmlns:a16="http://schemas.microsoft.com/office/drawing/2014/main" id="{D8CDE0B7-250D-64AC-8B42-532628C079DC}"/>
              </a:ext>
            </a:extLst>
          </p:cNvPr>
          <p:cNvGrpSpPr/>
          <p:nvPr/>
        </p:nvGrpSpPr>
        <p:grpSpPr>
          <a:xfrm>
            <a:off x="803986" y="8293197"/>
            <a:ext cx="16682906" cy="1233630"/>
            <a:chOff x="0" y="0"/>
            <a:chExt cx="4393852" cy="324907"/>
          </a:xfrm>
        </p:grpSpPr>
        <p:sp>
          <p:nvSpPr>
            <p:cNvPr id="15" name="Freeform 15">
              <a:extLst>
                <a:ext uri="{FF2B5EF4-FFF2-40B4-BE49-F238E27FC236}">
                  <a16:creationId xmlns:a16="http://schemas.microsoft.com/office/drawing/2014/main" id="{398411CE-1C26-D7D5-AABD-4C109A85D5C6}"/>
                </a:ext>
              </a:extLst>
            </p:cNvPr>
            <p:cNvSpPr/>
            <p:nvPr/>
          </p:nvSpPr>
          <p:spPr>
            <a:xfrm>
              <a:off x="0" y="0"/>
              <a:ext cx="4393852" cy="324907"/>
            </a:xfrm>
            <a:custGeom>
              <a:avLst/>
              <a:gdLst/>
              <a:ahLst/>
              <a:cxnLst/>
              <a:rect l="l" t="t" r="r" b="b"/>
              <a:pathLst>
                <a:path w="4393852" h="324907">
                  <a:moveTo>
                    <a:pt x="21811" y="0"/>
                  </a:moveTo>
                  <a:lnTo>
                    <a:pt x="4372041" y="0"/>
                  </a:lnTo>
                  <a:cubicBezTo>
                    <a:pt x="4384087" y="0"/>
                    <a:pt x="4393852" y="9765"/>
                    <a:pt x="4393852" y="21811"/>
                  </a:cubicBezTo>
                  <a:lnTo>
                    <a:pt x="4393852" y="303096"/>
                  </a:lnTo>
                  <a:cubicBezTo>
                    <a:pt x="4393852" y="315142"/>
                    <a:pt x="4384087" y="324907"/>
                    <a:pt x="4372041" y="324907"/>
                  </a:cubicBezTo>
                  <a:lnTo>
                    <a:pt x="21811" y="324907"/>
                  </a:lnTo>
                  <a:cubicBezTo>
                    <a:pt x="9765" y="324907"/>
                    <a:pt x="0" y="315142"/>
                    <a:pt x="0" y="303096"/>
                  </a:cubicBezTo>
                  <a:lnTo>
                    <a:pt x="0" y="21811"/>
                  </a:lnTo>
                  <a:cubicBezTo>
                    <a:pt x="0" y="9765"/>
                    <a:pt x="9765" y="0"/>
                    <a:pt x="21811" y="0"/>
                  </a:cubicBezTo>
                  <a:close/>
                </a:path>
              </a:pathLst>
            </a:custGeom>
            <a:solidFill>
              <a:srgbClr val="000000">
                <a:alpha val="0"/>
              </a:srgbClr>
            </a:solidFill>
            <a:ln w="28575" cap="rnd">
              <a:solidFill>
                <a:srgbClr val="FFFFFF"/>
              </a:solidFill>
              <a:prstDash val="solid"/>
              <a:round/>
            </a:ln>
          </p:spPr>
        </p:sp>
        <p:sp>
          <p:nvSpPr>
            <p:cNvPr id="16" name="TextBox 16">
              <a:extLst>
                <a:ext uri="{FF2B5EF4-FFF2-40B4-BE49-F238E27FC236}">
                  <a16:creationId xmlns:a16="http://schemas.microsoft.com/office/drawing/2014/main" id="{0C5659A4-A121-4637-AFA4-8668EA10C23B}"/>
                </a:ext>
              </a:extLst>
            </p:cNvPr>
            <p:cNvSpPr txBox="1"/>
            <p:nvPr/>
          </p:nvSpPr>
          <p:spPr>
            <a:xfrm>
              <a:off x="0" y="-66675"/>
              <a:ext cx="4393852" cy="391582"/>
            </a:xfrm>
            <a:prstGeom prst="rect">
              <a:avLst/>
            </a:prstGeom>
          </p:spPr>
          <p:txBody>
            <a:bodyPr lIns="50800" tIns="50800" rIns="50800" bIns="50800" rtlCol="0" anchor="ctr"/>
            <a:lstStyle/>
            <a:p>
              <a:pPr algn="ctr">
                <a:lnSpc>
                  <a:spcPts val="3151"/>
                </a:lnSpc>
              </a:pPr>
              <a:endParaRPr/>
            </a:p>
          </p:txBody>
        </p:sp>
      </p:grpSp>
      <p:sp>
        <p:nvSpPr>
          <p:cNvPr id="22" name="TextBox 21">
            <a:extLst>
              <a:ext uri="{FF2B5EF4-FFF2-40B4-BE49-F238E27FC236}">
                <a16:creationId xmlns:a16="http://schemas.microsoft.com/office/drawing/2014/main" id="{A05A5B2C-3A04-4EBA-2F6A-1C5C3AE54C2C}"/>
              </a:ext>
            </a:extLst>
          </p:cNvPr>
          <p:cNvSpPr txBox="1"/>
          <p:nvPr/>
        </p:nvSpPr>
        <p:spPr>
          <a:xfrm>
            <a:off x="8154659" y="2324100"/>
            <a:ext cx="8761741" cy="5078313"/>
          </a:xfrm>
          <a:prstGeom prst="rect">
            <a:avLst/>
          </a:prstGeom>
          <a:noFill/>
        </p:spPr>
        <p:txBody>
          <a:bodyPr wrap="square" rtlCol="0">
            <a:spAutoFit/>
          </a:bodyPr>
          <a:lstStyle/>
          <a:p>
            <a:r>
              <a:rPr lang="en-US" b="1" dirty="0">
                <a:solidFill>
                  <a:schemeClr val="bg1"/>
                </a:solidFill>
              </a:rPr>
              <a:t>Key Insights</a:t>
            </a: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Combo1 is the Revenue Leader:</a:t>
            </a:r>
            <a:r>
              <a:rPr lang="en-US" dirty="0">
                <a:solidFill>
                  <a:schemeClr val="bg1"/>
                </a:solidFill>
              </a:rPr>
              <a:t> The Combo1 category shows the most dramatic revenue increase, with a post-promo revenue of </a:t>
            </a:r>
            <a:r>
              <a:rPr lang="en-US" dirty="0" err="1">
                <a:solidFill>
                  <a:schemeClr val="bg1"/>
                </a:solidFill>
              </a:rPr>
              <a:t>approx</a:t>
            </a:r>
            <a:r>
              <a:rPr lang="en-US" dirty="0">
                <a:solidFill>
                  <a:schemeClr val="bg1"/>
                </a:solidFill>
              </a:rPr>
              <a:t> 3.9 crore, making it the highest revenue driver by a large margin.</a:t>
            </a:r>
          </a:p>
          <a:p>
            <a:pPr marL="285750" indent="-285750">
              <a:buFont typeface="Arial" panose="020B0604020202020204" pitchFamily="34" charset="0"/>
              <a:buChar char="•"/>
            </a:pPr>
            <a:r>
              <a:rPr lang="en-US" b="1" dirty="0">
                <a:solidFill>
                  <a:schemeClr val="bg1"/>
                </a:solidFill>
              </a:rPr>
              <a:t>Strategic Focus on Combo1 and Grocery:</a:t>
            </a:r>
            <a:r>
              <a:rPr lang="en-US" dirty="0">
                <a:solidFill>
                  <a:schemeClr val="bg1"/>
                </a:solidFill>
              </a:rPr>
              <a:t> Only Combo1 and Grocery &amp; Staples show a significant revenue lift post-promotion; all other categories have marginal or negligible increases.</a:t>
            </a:r>
          </a:p>
          <a:p>
            <a:pPr marL="285750" indent="-285750">
              <a:buFont typeface="Arial" panose="020B0604020202020204" pitchFamily="34" charset="0"/>
              <a:buChar char="•"/>
            </a:pPr>
            <a:r>
              <a:rPr lang="en-US" b="1" dirty="0">
                <a:solidFill>
                  <a:schemeClr val="bg1"/>
                </a:solidFill>
              </a:rPr>
              <a:t>Ineffective Personal Care Promo:</a:t>
            </a:r>
            <a:r>
              <a:rPr lang="en-US" dirty="0">
                <a:solidFill>
                  <a:schemeClr val="bg1"/>
                </a:solidFill>
              </a:rPr>
              <a:t> The Personal Care category shows almost no change in revenue, indicating the promotion had virtually no impact on sales or profitability in this segment.</a:t>
            </a:r>
          </a:p>
          <a:p>
            <a:endParaRPr lang="en-US" dirty="0">
              <a:solidFill>
                <a:schemeClr val="bg1"/>
              </a:solidFill>
            </a:endParaRPr>
          </a:p>
          <a:p>
            <a:r>
              <a:rPr lang="en-US" b="1" dirty="0">
                <a:solidFill>
                  <a:schemeClr val="bg1"/>
                </a:solidFill>
              </a:rPr>
              <a:t>Recommendations</a:t>
            </a: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Replicate Combo1 Success:</a:t>
            </a:r>
            <a:r>
              <a:rPr lang="en-US" dirty="0">
                <a:solidFill>
                  <a:schemeClr val="bg1"/>
                </a:solidFill>
              </a:rPr>
              <a:t> Analyze the specific promotional mechanics used for Combo1 and attempt to apply them to other low-performing categories to achieve similar explosive growth.</a:t>
            </a:r>
          </a:p>
          <a:p>
            <a:pPr marL="285750" indent="-285750">
              <a:buFont typeface="Arial" panose="020B0604020202020204" pitchFamily="34" charset="0"/>
              <a:buChar char="•"/>
            </a:pPr>
            <a:r>
              <a:rPr lang="en-US" b="1" dirty="0">
                <a:solidFill>
                  <a:schemeClr val="bg1"/>
                </a:solidFill>
              </a:rPr>
              <a:t>Review Marginal Segments:</a:t>
            </a:r>
            <a:r>
              <a:rPr lang="en-US" dirty="0">
                <a:solidFill>
                  <a:schemeClr val="bg1"/>
                </a:solidFill>
              </a:rPr>
              <a:t> Immediately review the promotional strategy for Home Appliances, Home Care, and Personal Care to reallocate budget or eliminate ineffective discount models that yield low incremental revenue.</a:t>
            </a:r>
          </a:p>
        </p:txBody>
      </p:sp>
      <p:pic>
        <p:nvPicPr>
          <p:cNvPr id="24" name="Picture 23">
            <a:extLst>
              <a:ext uri="{FF2B5EF4-FFF2-40B4-BE49-F238E27FC236}">
                <a16:creationId xmlns:a16="http://schemas.microsoft.com/office/drawing/2014/main" id="{AF9A559F-4A55-C64F-FD1A-B9CD5B2F7FA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3913" y="3597195"/>
            <a:ext cx="6309373" cy="3661731"/>
          </a:xfrm>
          <a:prstGeom prst="rect">
            <a:avLst/>
          </a:prstGeom>
        </p:spPr>
      </p:pic>
      <p:sp>
        <p:nvSpPr>
          <p:cNvPr id="25" name="TextBox 24">
            <a:extLst>
              <a:ext uri="{FF2B5EF4-FFF2-40B4-BE49-F238E27FC236}">
                <a16:creationId xmlns:a16="http://schemas.microsoft.com/office/drawing/2014/main" id="{D20BDCE8-6816-D020-0D24-F88A6CEC17D5}"/>
              </a:ext>
            </a:extLst>
          </p:cNvPr>
          <p:cNvSpPr txBox="1"/>
          <p:nvPr/>
        </p:nvSpPr>
        <p:spPr>
          <a:xfrm>
            <a:off x="1153316" y="2010883"/>
            <a:ext cx="5792054" cy="1200329"/>
          </a:xfrm>
          <a:prstGeom prst="rect">
            <a:avLst/>
          </a:prstGeom>
          <a:noFill/>
        </p:spPr>
        <p:txBody>
          <a:bodyPr wrap="square" rtlCol="0">
            <a:spAutoFit/>
          </a:bodyPr>
          <a:lstStyle/>
          <a:p>
            <a:r>
              <a:rPr lang="en-US" dirty="0">
                <a:solidFill>
                  <a:schemeClr val="bg1"/>
                </a:solidFill>
              </a:rPr>
              <a:t>7. Analyze the revenue before and after promotions across different product categories in Bengaluru. What trends can be identified in the performance of each category, and how did promotions impact overall revenue in the city?</a:t>
            </a:r>
            <a:endParaRPr lang="en-IN" dirty="0">
              <a:solidFill>
                <a:schemeClr val="bg1"/>
              </a:solidFill>
            </a:endParaRPr>
          </a:p>
        </p:txBody>
      </p:sp>
      <p:sp>
        <p:nvSpPr>
          <p:cNvPr id="26" name="TextBox 25">
            <a:extLst>
              <a:ext uri="{FF2B5EF4-FFF2-40B4-BE49-F238E27FC236}">
                <a16:creationId xmlns:a16="http://schemas.microsoft.com/office/drawing/2014/main" id="{EDD34435-5400-128E-3A82-F37966357F54}"/>
              </a:ext>
            </a:extLst>
          </p:cNvPr>
          <p:cNvSpPr txBox="1"/>
          <p:nvPr/>
        </p:nvSpPr>
        <p:spPr>
          <a:xfrm>
            <a:off x="1153316" y="8494513"/>
            <a:ext cx="16174429" cy="830997"/>
          </a:xfrm>
          <a:prstGeom prst="rect">
            <a:avLst/>
          </a:prstGeom>
          <a:noFill/>
        </p:spPr>
        <p:txBody>
          <a:bodyPr wrap="square" rtlCol="0">
            <a:spAutoFit/>
          </a:bodyPr>
          <a:lstStyle/>
          <a:p>
            <a:r>
              <a:rPr lang="en-US" sz="2400" b="1" dirty="0">
                <a:solidFill>
                  <a:schemeClr val="bg1"/>
                </a:solidFill>
              </a:rPr>
              <a:t>Conclusion: </a:t>
            </a:r>
            <a:r>
              <a:rPr lang="en-US" sz="2400" dirty="0">
                <a:solidFill>
                  <a:schemeClr val="bg1"/>
                </a:solidFill>
              </a:rPr>
              <a:t>Promotions in Bengaluru are highly effective only for the Combo1 category, demonstrating a targeted success that must be leveraged and replicated across marginal product segments.</a:t>
            </a:r>
          </a:p>
        </p:txBody>
      </p:sp>
    </p:spTree>
    <p:extLst>
      <p:ext uri="{BB962C8B-B14F-4D97-AF65-F5344CB8AC3E}">
        <p14:creationId xmlns:p14="http://schemas.microsoft.com/office/powerpoint/2010/main" val="1117729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C496240C-6615-A7B2-D5CE-123C198D14C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5A1AC8F-9A86-D749-13B8-9D63DC511890}"/>
              </a:ext>
            </a:extLst>
          </p:cNvPr>
          <p:cNvGrpSpPr/>
          <p:nvPr/>
        </p:nvGrpSpPr>
        <p:grpSpPr>
          <a:xfrm>
            <a:off x="296111" y="1485900"/>
            <a:ext cx="17695777" cy="8314233"/>
            <a:chOff x="0" y="0"/>
            <a:chExt cx="4660616" cy="2525215"/>
          </a:xfrm>
        </p:grpSpPr>
        <p:sp>
          <p:nvSpPr>
            <p:cNvPr id="3" name="Freeform 3">
              <a:extLst>
                <a:ext uri="{FF2B5EF4-FFF2-40B4-BE49-F238E27FC236}">
                  <a16:creationId xmlns:a16="http://schemas.microsoft.com/office/drawing/2014/main" id="{A52AA8E7-2C36-DE36-4FA7-E8078B0BF4B4}"/>
                </a:ext>
              </a:extLst>
            </p:cNvPr>
            <p:cNvSpPr/>
            <p:nvPr/>
          </p:nvSpPr>
          <p:spPr>
            <a:xfrm>
              <a:off x="0" y="0"/>
              <a:ext cx="4660616" cy="2525215"/>
            </a:xfrm>
            <a:custGeom>
              <a:avLst/>
              <a:gdLst/>
              <a:ahLst/>
              <a:cxnLst/>
              <a:rect l="l" t="t" r="r" b="b"/>
              <a:pathLst>
                <a:path w="4660616" h="2525215">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FFFFFF">
                <a:alpha val="21961"/>
              </a:srgbClr>
            </a:solidFill>
          </p:spPr>
          <p:txBody>
            <a:bodyPr/>
            <a:lstStyle/>
            <a:p>
              <a:endParaRPr lang="en-IN"/>
            </a:p>
          </p:txBody>
        </p:sp>
        <p:sp>
          <p:nvSpPr>
            <p:cNvPr id="4" name="TextBox 4">
              <a:extLst>
                <a:ext uri="{FF2B5EF4-FFF2-40B4-BE49-F238E27FC236}">
                  <a16:creationId xmlns:a16="http://schemas.microsoft.com/office/drawing/2014/main" id="{C75EE61E-C8EB-57F1-39BF-4A943D5054A4}"/>
                </a:ext>
              </a:extLst>
            </p:cNvPr>
            <p:cNvSpPr txBox="1"/>
            <p:nvPr/>
          </p:nvSpPr>
          <p:spPr>
            <a:xfrm>
              <a:off x="0" y="-38100"/>
              <a:ext cx="4660616" cy="256331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a:extLst>
              <a:ext uri="{FF2B5EF4-FFF2-40B4-BE49-F238E27FC236}">
                <a16:creationId xmlns:a16="http://schemas.microsoft.com/office/drawing/2014/main" id="{C6697D38-FAF8-ED41-FFD9-AD40325ABCC9}"/>
              </a:ext>
            </a:extLst>
          </p:cNvPr>
          <p:cNvSpPr/>
          <p:nvPr/>
        </p:nvSpPr>
        <p:spPr>
          <a:xfrm>
            <a:off x="803986" y="803986"/>
            <a:ext cx="449429" cy="449429"/>
          </a:xfrm>
          <a:custGeom>
            <a:avLst/>
            <a:gdLst/>
            <a:ahLst/>
            <a:cxnLst/>
            <a:rect l="l" t="t" r="r" b="b"/>
            <a:pathLst>
              <a:path w="449429" h="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77F34FC7-8B9C-938B-2D0C-6D3EACBEE314}"/>
              </a:ext>
            </a:extLst>
          </p:cNvPr>
          <p:cNvSpPr txBox="1"/>
          <p:nvPr/>
        </p:nvSpPr>
        <p:spPr>
          <a:xfrm>
            <a:off x="6001899" y="4359152"/>
            <a:ext cx="6359764" cy="1769715"/>
          </a:xfrm>
          <a:prstGeom prst="rect">
            <a:avLst/>
          </a:prstGeom>
        </p:spPr>
        <p:txBody>
          <a:bodyPr wrap="square" lIns="0" tIns="0" rIns="0" bIns="0" rtlCol="0" anchor="t">
            <a:spAutoFit/>
          </a:bodyPr>
          <a:lstStyle/>
          <a:p>
            <a:pPr algn="ctr">
              <a:buNone/>
            </a:pPr>
            <a:r>
              <a:rPr lang="en-US" sz="9600" b="1" i="0" dirty="0">
                <a:solidFill>
                  <a:srgbClr val="FFFFFF"/>
                </a:solidFill>
                <a:effectLst/>
                <a:latin typeface="Manrope"/>
              </a:rPr>
              <a:t>Thank</a:t>
            </a:r>
            <a:r>
              <a:rPr lang="en-US" sz="11400" b="1" i="0" dirty="0">
                <a:solidFill>
                  <a:srgbClr val="FFFFFF"/>
                </a:solidFill>
                <a:effectLst/>
                <a:latin typeface="Manrope"/>
              </a:rPr>
              <a:t> </a:t>
            </a:r>
            <a:r>
              <a:rPr lang="en-US" sz="9600" b="1" i="0" dirty="0">
                <a:solidFill>
                  <a:srgbClr val="FFFFFF"/>
                </a:solidFill>
                <a:effectLst/>
                <a:latin typeface="Manrope"/>
              </a:rPr>
              <a:t>you</a:t>
            </a:r>
            <a:endParaRPr lang="en-IN" sz="11400" b="1" i="0" dirty="0">
              <a:solidFill>
                <a:srgbClr val="FFFFFF"/>
              </a:solidFill>
              <a:effectLst/>
              <a:latin typeface="Manrope"/>
            </a:endParaRPr>
          </a:p>
        </p:txBody>
      </p:sp>
      <p:sp>
        <p:nvSpPr>
          <p:cNvPr id="7" name="TextBox 7">
            <a:extLst>
              <a:ext uri="{FF2B5EF4-FFF2-40B4-BE49-F238E27FC236}">
                <a16:creationId xmlns:a16="http://schemas.microsoft.com/office/drawing/2014/main" id="{3E21ECFD-2778-9EE1-7DE8-33C4D5176551}"/>
              </a:ext>
            </a:extLst>
          </p:cNvPr>
          <p:cNvSpPr txBox="1"/>
          <p:nvPr/>
        </p:nvSpPr>
        <p:spPr>
          <a:xfrm>
            <a:off x="1341572" y="775609"/>
            <a:ext cx="2685498" cy="409023"/>
          </a:xfrm>
          <a:prstGeom prst="rect">
            <a:avLst/>
          </a:prstGeom>
        </p:spPr>
        <p:txBody>
          <a:bodyPr lIns="0" tIns="0" rIns="0" bIns="0" rtlCol="0" anchor="t">
            <a:spAutoFit/>
          </a:bodyPr>
          <a:lstStyle/>
          <a:p>
            <a:pPr algn="l">
              <a:lnSpc>
                <a:spcPts val="3391"/>
              </a:lnSpc>
              <a:spcBef>
                <a:spcPct val="0"/>
              </a:spcBef>
            </a:pPr>
            <a:r>
              <a:rPr lang="en-US" sz="2422" b="1" spc="-109" dirty="0">
                <a:solidFill>
                  <a:srgbClr val="FFFFFF"/>
                </a:solidFill>
                <a:latin typeface="Telegraf Bold"/>
                <a:ea typeface="Telegraf Bold"/>
                <a:cs typeface="Telegraf Bold"/>
                <a:sym typeface="Telegraf Bold"/>
              </a:rPr>
              <a:t>Nova Mart</a:t>
            </a:r>
          </a:p>
        </p:txBody>
      </p:sp>
      <p:sp>
        <p:nvSpPr>
          <p:cNvPr id="8" name="TextBox 8">
            <a:extLst>
              <a:ext uri="{FF2B5EF4-FFF2-40B4-BE49-F238E27FC236}">
                <a16:creationId xmlns:a16="http://schemas.microsoft.com/office/drawing/2014/main" id="{7C768609-CE50-C280-B97A-28E8513DD176}"/>
              </a:ext>
            </a:extLst>
          </p:cNvPr>
          <p:cNvSpPr txBox="1"/>
          <p:nvPr/>
        </p:nvSpPr>
        <p:spPr>
          <a:xfrm>
            <a:off x="1005489" y="8994425"/>
            <a:ext cx="4747340" cy="425373"/>
          </a:xfrm>
          <a:prstGeom prst="rect">
            <a:avLst/>
          </a:prstGeom>
        </p:spPr>
        <p:txBody>
          <a:bodyPr lIns="0" tIns="0" rIns="0" bIns="0" rtlCol="0" anchor="t">
            <a:spAutoFit/>
          </a:bodyPr>
          <a:lstStyle/>
          <a:p>
            <a:pPr algn="l">
              <a:lnSpc>
                <a:spcPts val="3461"/>
              </a:lnSpc>
            </a:pPr>
            <a:r>
              <a:rPr lang="en-US" sz="2472" dirty="0">
                <a:solidFill>
                  <a:srgbClr val="FFFFFF"/>
                </a:solidFill>
                <a:latin typeface="Poppins"/>
                <a:ea typeface="Poppins"/>
                <a:cs typeface="Poppins"/>
                <a:sym typeface="Poppins"/>
              </a:rPr>
              <a:t>CodeBasics.io</a:t>
            </a:r>
          </a:p>
        </p:txBody>
      </p:sp>
      <p:sp>
        <p:nvSpPr>
          <p:cNvPr id="9" name="TextBox 9">
            <a:extLst>
              <a:ext uri="{FF2B5EF4-FFF2-40B4-BE49-F238E27FC236}">
                <a16:creationId xmlns:a16="http://schemas.microsoft.com/office/drawing/2014/main" id="{50BFA1C6-A66E-EFE2-2D3E-47CF6785B92F}"/>
              </a:ext>
            </a:extLst>
          </p:cNvPr>
          <p:cNvSpPr txBox="1"/>
          <p:nvPr/>
        </p:nvSpPr>
        <p:spPr>
          <a:xfrm>
            <a:off x="12571460" y="8724901"/>
            <a:ext cx="4747340" cy="874214"/>
          </a:xfrm>
          <a:prstGeom prst="rect">
            <a:avLst/>
          </a:prstGeom>
        </p:spPr>
        <p:txBody>
          <a:bodyPr lIns="0" tIns="0" rIns="0" bIns="0" rtlCol="0" anchor="t">
            <a:spAutoFit/>
          </a:bodyPr>
          <a:lstStyle/>
          <a:p>
            <a:pPr algn="r">
              <a:lnSpc>
                <a:spcPts val="3461"/>
              </a:lnSpc>
            </a:pPr>
            <a:r>
              <a:rPr lang="en-US" sz="2472" dirty="0">
                <a:solidFill>
                  <a:srgbClr val="FFFFFF"/>
                </a:solidFill>
                <a:latin typeface="Poppins"/>
                <a:ea typeface="Poppins"/>
                <a:cs typeface="Poppins"/>
                <a:sym typeface="Poppins"/>
              </a:rPr>
              <a:t>https://www.linkedin.com/in/hruthik-gajjala/</a:t>
            </a:r>
          </a:p>
        </p:txBody>
      </p:sp>
      <p:sp>
        <p:nvSpPr>
          <p:cNvPr id="10" name="TextBox 10">
            <a:extLst>
              <a:ext uri="{FF2B5EF4-FFF2-40B4-BE49-F238E27FC236}">
                <a16:creationId xmlns:a16="http://schemas.microsoft.com/office/drawing/2014/main" id="{6A99EADE-B0E3-8C31-1A6F-C1060B69A2D9}"/>
              </a:ext>
            </a:extLst>
          </p:cNvPr>
          <p:cNvSpPr txBox="1"/>
          <p:nvPr/>
        </p:nvSpPr>
        <p:spPr>
          <a:xfrm>
            <a:off x="8496029" y="9002119"/>
            <a:ext cx="1274721" cy="451551"/>
          </a:xfrm>
          <a:prstGeom prst="rect">
            <a:avLst/>
          </a:prstGeom>
        </p:spPr>
        <p:txBody>
          <a:bodyPr lIns="0" tIns="0" rIns="0" bIns="0" rtlCol="0" anchor="t">
            <a:spAutoFit/>
          </a:bodyPr>
          <a:lstStyle/>
          <a:p>
            <a:pPr algn="ctr">
              <a:lnSpc>
                <a:spcPts val="3461"/>
              </a:lnSpc>
            </a:pPr>
            <a:r>
              <a:rPr lang="en-US" sz="2472">
                <a:solidFill>
                  <a:srgbClr val="FFFFFF"/>
                </a:solidFill>
                <a:latin typeface="Poppins"/>
                <a:ea typeface="Poppins"/>
                <a:cs typeface="Poppins"/>
                <a:sym typeface="Poppins"/>
              </a:rPr>
              <a:t>-</a:t>
            </a:r>
          </a:p>
        </p:txBody>
      </p:sp>
      <p:sp>
        <p:nvSpPr>
          <p:cNvPr id="11" name="TextBox 11">
            <a:extLst>
              <a:ext uri="{FF2B5EF4-FFF2-40B4-BE49-F238E27FC236}">
                <a16:creationId xmlns:a16="http://schemas.microsoft.com/office/drawing/2014/main" id="{1D6BD1C1-123E-C48F-FEAF-3E5CDABEFCA5}"/>
              </a:ext>
            </a:extLst>
          </p:cNvPr>
          <p:cNvSpPr txBox="1"/>
          <p:nvPr/>
        </p:nvSpPr>
        <p:spPr>
          <a:xfrm>
            <a:off x="9144000" y="841660"/>
            <a:ext cx="1662550" cy="403311"/>
          </a:xfrm>
          <a:prstGeom prst="rect">
            <a:avLst/>
          </a:prstGeom>
        </p:spPr>
        <p:txBody>
          <a:bodyPr lIns="0" tIns="0" rIns="0" bIns="0" rtlCol="0" anchor="t">
            <a:spAutoFit/>
          </a:bodyPr>
          <a:lstStyle/>
          <a:p>
            <a:pPr lvl="0" algn="r">
              <a:lnSpc>
                <a:spcPts val="3151"/>
              </a:lnSpc>
              <a:spcBef>
                <a:spcPct val="0"/>
              </a:spcBef>
            </a:pPr>
            <a:r>
              <a:rPr lang="en-US" sz="2251" dirty="0">
                <a:solidFill>
                  <a:srgbClr val="FFFFFF"/>
                </a:solidFill>
                <a:latin typeface="Poppins"/>
                <a:ea typeface="Poppins"/>
                <a:cs typeface="Poppins"/>
                <a:sym typeface="Poppins"/>
              </a:rPr>
              <a:t>Home</a:t>
            </a:r>
          </a:p>
        </p:txBody>
      </p:sp>
      <p:sp>
        <p:nvSpPr>
          <p:cNvPr id="12" name="TextBox 12">
            <a:extLst>
              <a:ext uri="{FF2B5EF4-FFF2-40B4-BE49-F238E27FC236}">
                <a16:creationId xmlns:a16="http://schemas.microsoft.com/office/drawing/2014/main" id="{F7A56C6A-F4BC-06E2-4B11-80D0C1DD31B1}"/>
              </a:ext>
            </a:extLst>
          </p:cNvPr>
          <p:cNvSpPr txBox="1"/>
          <p:nvPr/>
        </p:nvSpPr>
        <p:spPr>
          <a:xfrm>
            <a:off x="11408122" y="843874"/>
            <a:ext cx="1907082" cy="409541"/>
          </a:xfrm>
          <a:prstGeom prst="rect">
            <a:avLst/>
          </a:prstGeom>
        </p:spPr>
        <p:txBody>
          <a:bodyPr lIns="0" tIns="0" rIns="0" bIns="0" rtlCol="0" anchor="t">
            <a:spAutoFit/>
          </a:bodyPr>
          <a:lstStyle/>
          <a:p>
            <a:pPr marL="0" lvl="0" indent="0" algn="ctr">
              <a:lnSpc>
                <a:spcPts val="3151"/>
              </a:lnSpc>
              <a:spcBef>
                <a:spcPct val="0"/>
              </a:spcBef>
            </a:pPr>
            <a:r>
              <a:rPr lang="en-US" sz="2251" dirty="0">
                <a:solidFill>
                  <a:srgbClr val="FFFFFF"/>
                </a:solidFill>
                <a:latin typeface="Poppins"/>
                <a:ea typeface="Poppins"/>
                <a:cs typeface="Poppins"/>
                <a:sym typeface="Poppins"/>
              </a:rPr>
              <a:t>About</a:t>
            </a:r>
          </a:p>
        </p:txBody>
      </p:sp>
      <p:sp>
        <p:nvSpPr>
          <p:cNvPr id="13" name="TextBox 13">
            <a:extLst>
              <a:ext uri="{FF2B5EF4-FFF2-40B4-BE49-F238E27FC236}">
                <a16:creationId xmlns:a16="http://schemas.microsoft.com/office/drawing/2014/main" id="{8FA4FC22-D848-6BB3-61F7-9788079091C2}"/>
              </a:ext>
            </a:extLst>
          </p:cNvPr>
          <p:cNvSpPr txBox="1"/>
          <p:nvPr/>
        </p:nvSpPr>
        <p:spPr>
          <a:xfrm>
            <a:off x="13726729" y="819695"/>
            <a:ext cx="1916881" cy="409541"/>
          </a:xfrm>
          <a:prstGeom prst="rect">
            <a:avLst/>
          </a:prstGeom>
        </p:spPr>
        <p:txBody>
          <a:bodyPr lIns="0" tIns="0" rIns="0" bIns="0" rtlCol="0" anchor="t">
            <a:spAutoFit/>
          </a:bodyPr>
          <a:lstStyle/>
          <a:p>
            <a:pPr marL="0" lvl="0" indent="0" algn="ctr">
              <a:lnSpc>
                <a:spcPts val="3151"/>
              </a:lnSpc>
              <a:spcBef>
                <a:spcPct val="0"/>
              </a:spcBef>
            </a:pPr>
            <a:r>
              <a:rPr lang="en-US" sz="2251">
                <a:solidFill>
                  <a:srgbClr val="FFFFFF"/>
                </a:solidFill>
                <a:latin typeface="Poppins"/>
                <a:ea typeface="Poppins"/>
                <a:cs typeface="Poppins"/>
                <a:sym typeface="Poppins"/>
              </a:rPr>
              <a:t>Content</a:t>
            </a:r>
          </a:p>
        </p:txBody>
      </p:sp>
      <p:sp>
        <p:nvSpPr>
          <p:cNvPr id="14" name="TextBox 14">
            <a:extLst>
              <a:ext uri="{FF2B5EF4-FFF2-40B4-BE49-F238E27FC236}">
                <a16:creationId xmlns:a16="http://schemas.microsoft.com/office/drawing/2014/main" id="{9B914017-2C2C-0C20-84E3-864393EDB575}"/>
              </a:ext>
            </a:extLst>
          </p:cNvPr>
          <p:cNvSpPr txBox="1"/>
          <p:nvPr/>
        </p:nvSpPr>
        <p:spPr>
          <a:xfrm>
            <a:off x="15034325" y="841660"/>
            <a:ext cx="2224975" cy="388633"/>
          </a:xfrm>
          <a:prstGeom prst="rect">
            <a:avLst/>
          </a:prstGeom>
        </p:spPr>
        <p:txBody>
          <a:bodyPr lIns="0" tIns="0" rIns="0" bIns="0" rtlCol="0" anchor="t">
            <a:spAutoFit/>
          </a:bodyPr>
          <a:lstStyle/>
          <a:p>
            <a:pPr lvl="0" algn="r">
              <a:lnSpc>
                <a:spcPts val="3151"/>
              </a:lnSpc>
              <a:spcBef>
                <a:spcPct val="0"/>
              </a:spcBef>
            </a:pPr>
            <a:r>
              <a:rPr lang="en-US" sz="2251" b="1" dirty="0">
                <a:solidFill>
                  <a:srgbClr val="FFFFFF"/>
                </a:solidFill>
                <a:latin typeface="Poppins Bold"/>
                <a:ea typeface="Poppins Bold"/>
                <a:cs typeface="Poppins Bold"/>
                <a:sym typeface="Poppins Bold"/>
              </a:rPr>
              <a:t>Others</a:t>
            </a:r>
          </a:p>
        </p:txBody>
      </p:sp>
    </p:spTree>
    <p:extLst>
      <p:ext uri="{BB962C8B-B14F-4D97-AF65-F5344CB8AC3E}">
        <p14:creationId xmlns:p14="http://schemas.microsoft.com/office/powerpoint/2010/main" val="2420560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TotalTime>
  <Words>1687</Words>
  <Application>Microsoft Office PowerPoint</Application>
  <PresentationFormat>Custom</PresentationFormat>
  <Paragraphs>135</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Telegraf Bold</vt:lpstr>
      <vt:lpstr>Calibri</vt:lpstr>
      <vt:lpstr>Arial</vt:lpstr>
      <vt:lpstr>Poppins</vt:lpstr>
      <vt:lpstr>Poppins Bold</vt:lpstr>
      <vt:lpstr>Manrope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Home</dc:title>
  <dc:creator>Hruthik G</dc:creator>
  <cp:lastModifiedBy>Hruthik G</cp:lastModifiedBy>
  <cp:revision>13</cp:revision>
  <dcterms:created xsi:type="dcterms:W3CDTF">2006-08-16T00:00:00Z</dcterms:created>
  <dcterms:modified xsi:type="dcterms:W3CDTF">2025-11-17T06:40:21Z</dcterms:modified>
  <dc:identifier>DAG2z2QMG2w</dc:identifier>
</cp:coreProperties>
</file>